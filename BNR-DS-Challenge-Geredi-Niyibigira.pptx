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57da3d914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57da3d914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57da3d914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57da3d914_2_8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57da3d914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57da3d914_2_1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57da3d914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57da3d914_2_1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57da3d914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957da3d914_2_1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57da3d914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57da3d914_2_1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57da3d914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957da3d914_2_1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57da3d914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957da3d914_2_2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123444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457200" y="68580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BNR Document Intelligence Assistant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457200" y="15773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(RAG) over BNR Institutional Corpus</a:t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1371600" y="2263140"/>
            <a:ext cx="6400800" cy="1028700"/>
          </a:xfrm>
          <a:prstGeom prst="rect">
            <a:avLst/>
          </a:prstGeom>
          <a:solidFill>
            <a:srgbClr val="E8F5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371600" y="2331720"/>
            <a:ext cx="6400800" cy="831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4 corpus documents  ·  Semantic retrieval  ·  Grounded answers with citations</a:t>
            </a:r>
            <a:b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Strict fallback for out-of-corpus questions  ·  Full audit trail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57200" y="370332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Geredi Niyibigira  ·  BNR Data Science Challenge #1  ·  February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/>
          <p:nvPr/>
        </p:nvSpPr>
        <p:spPr>
          <a:xfrm>
            <a:off x="0" y="120175"/>
            <a:ext cx="9144000" cy="342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182855" y="32265"/>
            <a:ext cx="8778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41" name="Google Shape;141;p26"/>
          <p:cNvSpPr/>
          <p:nvPr/>
        </p:nvSpPr>
        <p:spPr>
          <a:xfrm>
            <a:off x="274320" y="656208"/>
            <a:ext cx="5029200" cy="51450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274300" y="715600"/>
            <a:ext cx="502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User Question</a:t>
            </a:r>
            <a:endParaRPr/>
          </a:p>
        </p:txBody>
      </p:sp>
      <p:sp>
        <p:nvSpPr>
          <p:cNvPr id="143" name="Google Shape;143;p26"/>
          <p:cNvSpPr/>
          <p:nvPr/>
        </p:nvSpPr>
        <p:spPr>
          <a:xfrm>
            <a:off x="274295" y="1266018"/>
            <a:ext cx="5029200" cy="514500"/>
          </a:xfrm>
          <a:prstGeom prst="rect">
            <a:avLst/>
          </a:prstGeom>
          <a:solidFill>
            <a:srgbClr val="274E1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274300" y="1261663"/>
            <a:ext cx="468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Text Embedding</a:t>
            </a:r>
            <a:b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all-MiniLM-L6-v2 (local)</a:t>
            </a:r>
            <a:endParaRPr/>
          </a:p>
        </p:txBody>
      </p:sp>
      <p:sp>
        <p:nvSpPr>
          <p:cNvPr id="145" name="Google Shape;145;p26"/>
          <p:cNvSpPr/>
          <p:nvPr/>
        </p:nvSpPr>
        <p:spPr>
          <a:xfrm>
            <a:off x="274320" y="2023123"/>
            <a:ext cx="5029200" cy="51450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274325" y="2035825"/>
            <a:ext cx="493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 FAISS Vector Index</a:t>
            </a:r>
            <a:b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Cosine similarity (IndexFlatIP), top-5 chunks</a:t>
            </a:r>
            <a:endParaRPr/>
          </a:p>
        </p:txBody>
      </p:sp>
      <p:sp>
        <p:nvSpPr>
          <p:cNvPr id="147" name="Google Shape;147;p26"/>
          <p:cNvSpPr/>
          <p:nvPr/>
        </p:nvSpPr>
        <p:spPr>
          <a:xfrm>
            <a:off x="274320" y="2723265"/>
            <a:ext cx="5029200" cy="514500"/>
          </a:xfrm>
          <a:prstGeom prst="rect">
            <a:avLst/>
          </a:prstGeom>
          <a:solidFill>
            <a:srgbClr val="274E1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320075" y="2671875"/>
            <a:ext cx="475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 Context + Prompt</a:t>
            </a:r>
            <a:b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 grounding instructions</a:t>
            </a:r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274320" y="3449120"/>
            <a:ext cx="5029200" cy="51450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229300" y="3444775"/>
            <a:ext cx="484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 LLM</a:t>
            </a:r>
            <a:b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 answer + citations</a:t>
            </a:r>
            <a:endParaRPr/>
          </a:p>
        </p:txBody>
      </p:sp>
      <p:sp>
        <p:nvSpPr>
          <p:cNvPr id="151" name="Google Shape;151;p26"/>
          <p:cNvSpPr/>
          <p:nvPr/>
        </p:nvSpPr>
        <p:spPr>
          <a:xfrm>
            <a:off x="274320" y="4217665"/>
            <a:ext cx="5029200" cy="514500"/>
          </a:xfrm>
          <a:prstGeom prst="rect">
            <a:avLst/>
          </a:prstGeom>
          <a:solidFill>
            <a:srgbClr val="1A8C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320050" y="4251950"/>
            <a:ext cx="475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 Audit Logger</a:t>
            </a:r>
            <a:b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logs/audit.jsonl</a:t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5715030" y="540005"/>
            <a:ext cx="3200400" cy="384060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5760775" y="540001"/>
            <a:ext cx="3108900" cy="3258000"/>
          </a:xfrm>
          <a:prstGeom prst="rect">
            <a:avLst/>
          </a:prstGeom>
          <a:solidFill>
            <a:srgbClr val="E8F5E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COMPONENTS</a:t>
            </a:r>
            <a:endParaRPr b="1" i="0" sz="13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Embeddings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sentence-transformers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384-dim, CPU, no API key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Vector Store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FAISS IndexFlatIP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Persistent, exact search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LLM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Claude 3.5 Haiku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Anthropic API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Chunking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600 words / 100 overlap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182875" y="34300"/>
            <a:ext cx="869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Design Choices</a:t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182905" y="607720"/>
            <a:ext cx="73200" cy="37710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411480" y="445770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Local Embeddings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411480" y="702326"/>
            <a:ext cx="850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all-MiniLM-L6-v2 runs entirely on CPU — corpus text never leaves the institution's infrastructure.</a:t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182880" y="1249645"/>
            <a:ext cx="73200" cy="377100"/>
          </a:xfrm>
          <a:prstGeom prst="rect">
            <a:avLst/>
          </a:prstGeom>
          <a:solidFill>
            <a:srgbClr val="3876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411480" y="1131570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Strict Grounding Prompt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411480" y="1351026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System prompt forbids the LLM from using external knowledge. Mandatory fallback: "The answer cannot be determined from the provided documents."</a:t>
            </a:r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182880" y="1817370"/>
            <a:ext cx="73152" cy="37719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411480" y="1817370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Metadata Preservation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411480" y="2036826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Every chunk retains source document name, filename, page number, and doc type. Enables precise citations and filtered retrieval.</a:t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182880" y="2621270"/>
            <a:ext cx="73200" cy="377100"/>
          </a:xfrm>
          <a:prstGeom prst="rect">
            <a:avLst/>
          </a:prstGeom>
          <a:solidFill>
            <a:srgbClr val="3876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411480" y="2503170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Persistent Vector Index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411480" y="2722626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FAISS IndexFlatIP persists to disk (chroma_db/*.faiss + *.pkl). Re-indexing only needed when the corpus changes — cold start avoided on every query.</a:t>
            </a:r>
            <a:endParaRPr/>
          </a:p>
        </p:txBody>
      </p:sp>
      <p:sp>
        <p:nvSpPr>
          <p:cNvPr id="173" name="Google Shape;173;p27"/>
          <p:cNvSpPr/>
          <p:nvPr/>
        </p:nvSpPr>
        <p:spPr>
          <a:xfrm>
            <a:off x="182905" y="3299170"/>
            <a:ext cx="73200" cy="377100"/>
          </a:xfrm>
          <a:prstGeom prst="rect">
            <a:avLst/>
          </a:prstGeom>
          <a:solidFill>
            <a:srgbClr val="1A8C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411480" y="3188970"/>
            <a:ext cx="22860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A8C4E"/>
                </a:solidFill>
                <a:latin typeface="Calibri"/>
                <a:ea typeface="Calibri"/>
                <a:cs typeface="Calibri"/>
                <a:sym typeface="Calibri"/>
              </a:rPr>
              <a:t>Audit Trail</a:t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411480" y="3408426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Every query is appended to logs/audit.jsonl with timestamp, tokens, latency, sources retrieved, and whether the fallback was triggered.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56930" y="-43960"/>
            <a:ext cx="8778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 Approach</a:t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>
            <a:off x="182880" y="445770"/>
            <a:ext cx="4206240" cy="384048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320040" y="480060"/>
            <a:ext cx="4023300" cy="28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 Query → embedding vector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(same model as indexing)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 Cosine similarity search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across all ~2,000+ chunks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 Top-5 chunks returned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with similarity scores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 Low-quality chunks filtered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(&lt; 80 chars at index time)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 Chunks + question passed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to the LLM for generation</a:t>
            </a:r>
            <a:endParaRPr/>
          </a:p>
        </p:txBody>
      </p:sp>
      <p:sp>
        <p:nvSpPr>
          <p:cNvPr id="184" name="Google Shape;184;p28"/>
          <p:cNvSpPr/>
          <p:nvPr/>
        </p:nvSpPr>
        <p:spPr>
          <a:xfrm>
            <a:off x="4663440" y="445770"/>
            <a:ext cx="4297680" cy="384048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4800600" y="480060"/>
            <a:ext cx="41148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CORPUS DOCUMENT HANDLING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PDF documents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· pypdf text extraction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· 600-word sliding window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· Page number preserved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CSV (IMF dataset)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· One chunk per indicator row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· Year columns as key-value pairs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· indicator name in metadata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Multi-source queries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· No per-document filter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· Naturally surfaces best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chunks from all 4 docs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182850" y="-19325"/>
            <a:ext cx="8641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Outputs  (live evaluation results)</a:t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>
            <a:off x="182880" y="411480"/>
            <a:ext cx="8778240" cy="89154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182880" y="411480"/>
            <a:ext cx="64008" cy="89154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411480" y="43891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Q1 — Barriers to financial inclusion in rural Rwanda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411480" y="672084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Retrieved: FinScope 2024 pp. 75, 32, 33, 5, 15 (sim 0.72–0.75)  |  Latency: 2.6 s</a:t>
            </a:r>
            <a:b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Answer: Appropriate refusal — retrieved pages cover achievements &amp; recommendations, not barriers. System correctly refused rather than fabricating an answer. Limitation: semantic search matched the topic but not the sub-topic; hybrid BM25 would improve recall.</a:t>
            </a:r>
            <a:endParaRPr/>
          </a:p>
        </p:txBody>
      </p:sp>
      <p:sp>
        <p:nvSpPr>
          <p:cNvPr id="196" name="Google Shape;196;p29"/>
          <p:cNvSpPr/>
          <p:nvPr/>
        </p:nvSpPr>
        <p:spPr>
          <a:xfrm>
            <a:off x="182880" y="1508760"/>
            <a:ext cx="8778240" cy="89154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182880" y="1508760"/>
            <a:ext cx="64008" cy="891540"/>
          </a:xfrm>
          <a:prstGeom prst="rect">
            <a:avLst/>
          </a:prstGeom>
          <a:solidFill>
            <a:srgbClr val="3876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411480" y="153619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Q2 — Gender gap in mobile money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411480" y="1769364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Retrieved: GSMA 2025 p.76 (0.790), p.72 (0.754)  +  FinScope 2024 p.40 (0.766), p.36 (0.732)  |  Latency: 4.6 s</a:t>
            </a:r>
            <a:b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Answer: In Rwanda, 73% of women vs 82% of men have transactional accounts (9-pt gap). Globally: women in LMICs 8% less likely to own a mobile phone; gaps in 8 of 12 countries surveyed; transaction-type differences quantified by country (salary receipt: 5% women vs 16% men in Senegal).</a:t>
            </a:r>
            <a:endParaRPr/>
          </a:p>
        </p:txBody>
      </p:sp>
      <p:sp>
        <p:nvSpPr>
          <p:cNvPr id="200" name="Google Shape;200;p29"/>
          <p:cNvSpPr/>
          <p:nvPr/>
        </p:nvSpPr>
        <p:spPr>
          <a:xfrm>
            <a:off x="182880" y="2606040"/>
            <a:ext cx="8778240" cy="89154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182880" y="2606040"/>
            <a:ext cx="64008" cy="89154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411480" y="263347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Q3 — NBR's operational role in the payment system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11480" y="2866644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Retrieved: Payment Law p.1 (0.694), FinScope p.60 (0.695), IMF FAS (0.648)  |  Latency: 3.2 s</a:t>
            </a:r>
            <a:b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Answer: Chapter II of Law 061/2021 grants NBR general powers (Art. 4) and investigative powers (Art. 5). FinScope adds strategic context: NBR drives RNPS 2018-2024, targets 100% electronic payment adoption. Limitation: retrieved TOC page instead of article body text on first run.</a:t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182880" y="3703320"/>
            <a:ext cx="8778240" cy="89154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182880" y="3703320"/>
            <a:ext cx="64008" cy="891540"/>
          </a:xfrm>
          <a:prstGeom prst="rect">
            <a:avLst/>
          </a:prstGeom>
          <a:solidFill>
            <a:srgbClr val="CC33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411480" y="3730752"/>
            <a:ext cx="84124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Q4  |  PASS  |  Mobile money accounts in Rwanda in 2022?  (IMF survey)</a:t>
            </a:r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411480" y="3963924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Retrieved: IMF Financial Access Survey — all 5 chunks, sim 0.770–0.795 (strongest retrieval in evaluation)  |  Latency: 2.2 s</a:t>
            </a:r>
            <a:b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Answer: 1,969.62 registered mobile money accounts per 1,000 adults in Rwanda in 2022. Active accounts: 714.98 per 1,000 adults. Demonstrates correct parsing of structured CSV data with precise numeric citation from the IMF dataset.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182875" y="0"/>
            <a:ext cx="868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Findings &amp; Limitations</a:t>
            </a:r>
            <a:endParaRPr/>
          </a:p>
        </p:txBody>
      </p:sp>
      <p:sp>
        <p:nvSpPr>
          <p:cNvPr id="214" name="Google Shape;214;p30"/>
          <p:cNvSpPr/>
          <p:nvPr/>
        </p:nvSpPr>
        <p:spPr>
          <a:xfrm>
            <a:off x="182880" y="411480"/>
            <a:ext cx="4206240" cy="2057400"/>
          </a:xfrm>
          <a:prstGeom prst="rect">
            <a:avLst/>
          </a:prstGeom>
          <a:solidFill>
            <a:srgbClr val="E8F5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82880" y="411480"/>
            <a:ext cx="4206240" cy="274320"/>
          </a:xfrm>
          <a:prstGeom prst="rect">
            <a:avLst/>
          </a:prstGeom>
          <a:solidFill>
            <a:srgbClr val="1A8C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228600" y="42519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WORKS WELL</a:t>
            </a:r>
            <a:endParaRPr/>
          </a:p>
        </p:txBody>
      </p:sp>
      <p:sp>
        <p:nvSpPr>
          <p:cNvPr id="217" name="Google Shape;217;p30"/>
          <p:cNvSpPr txBox="1"/>
          <p:nvPr/>
        </p:nvSpPr>
        <p:spPr>
          <a:xfrm>
            <a:off x="274320" y="720090"/>
            <a:ext cx="402336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No hallucination in any of the 5 answers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Appropriate refusal on Q1 (correct grounding)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Article-level legal citations on Q3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GSMA gender chapter retrieved precisely (Q2)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Out-of-corpus question correctly refused (Q5)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Full audit trail in logs/audit.jsonl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368 chunks indexed from 4 heterogeneous docs</a:t>
            </a:r>
            <a:endParaRPr/>
          </a:p>
        </p:txBody>
      </p:sp>
      <p:sp>
        <p:nvSpPr>
          <p:cNvPr id="218" name="Google Shape;218;p30"/>
          <p:cNvSpPr/>
          <p:nvPr/>
        </p:nvSpPr>
        <p:spPr>
          <a:xfrm>
            <a:off x="4754880" y="411480"/>
            <a:ext cx="4206240" cy="2057400"/>
          </a:xfrm>
          <a:prstGeom prst="rect">
            <a:avLst/>
          </a:prstGeom>
          <a:solidFill>
            <a:srgbClr val="FD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4754880" y="411480"/>
            <a:ext cx="420624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4800600" y="42519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IDENTIFIED FAILURES</a:t>
            </a:r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4846320" y="720090"/>
            <a:ext cx="402336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Q1: barriers scattered across pages, no single chunk captures them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Q2: Rwanda-specific gender data underweighted vs GSMA global data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Similarity threshold not enforced — low-sim answers not gated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PDF tables and figures not extracted by pypdf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PDF tables &amp; figures not extracted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No minimum similarity threshold enforced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Single-document bias on multi-source queries</a:t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182880" y="2571750"/>
            <a:ext cx="8778240" cy="198882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274320" y="2606040"/>
            <a:ext cx="85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MEASURED METRICS  (5 questions, live run)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274320" y="2894076"/>
            <a:ext cx="34747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Q1  Barriers (rural Rwanda)</a:t>
            </a:r>
            <a:endParaRPr/>
          </a:p>
        </p:txBody>
      </p:sp>
      <p:sp>
        <p:nvSpPr>
          <p:cNvPr id="225" name="Google Shape;225;p30"/>
          <p:cNvSpPr txBox="1"/>
          <p:nvPr/>
        </p:nvSpPr>
        <p:spPr>
          <a:xfrm>
            <a:off x="3840480" y="2894076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0.718–0.752</a:t>
            </a:r>
            <a:endParaRPr/>
          </a:p>
        </p:txBody>
      </p:sp>
      <p:sp>
        <p:nvSpPr>
          <p:cNvPr id="226" name="Google Shape;226;p30"/>
          <p:cNvSpPr txBox="1"/>
          <p:nvPr/>
        </p:nvSpPr>
        <p:spPr>
          <a:xfrm>
            <a:off x="5577840" y="2894076"/>
            <a:ext cx="25603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Appropriate refusal</a:t>
            </a:r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8321040" y="2894076"/>
            <a:ext cx="6400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A8C4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28" name="Google Shape;228;p30"/>
          <p:cNvSpPr txBox="1"/>
          <p:nvPr/>
        </p:nvSpPr>
        <p:spPr>
          <a:xfrm>
            <a:off x="274320" y="3209544"/>
            <a:ext cx="34747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Q2  Gender gap in mobile money</a:t>
            </a:r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3840480" y="3209544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0.717–0.770</a:t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5577840" y="3209544"/>
            <a:ext cx="25603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Detailed (global)</a:t>
            </a:r>
            <a:endParaRPr/>
          </a:p>
        </p:txBody>
      </p:sp>
      <p:sp>
        <p:nvSpPr>
          <p:cNvPr id="231" name="Google Shape;231;p30"/>
          <p:cNvSpPr txBox="1"/>
          <p:nvPr/>
        </p:nvSpPr>
        <p:spPr>
          <a:xfrm>
            <a:off x="8321040" y="3209544"/>
            <a:ext cx="6400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A8C4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274320" y="3525012"/>
            <a:ext cx="34747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Q3  NBR payment system role</a:t>
            </a:r>
            <a:endParaRPr/>
          </a:p>
        </p:txBody>
      </p:sp>
      <p:sp>
        <p:nvSpPr>
          <p:cNvPr id="233" name="Google Shape;233;p30"/>
          <p:cNvSpPr txBox="1"/>
          <p:nvPr/>
        </p:nvSpPr>
        <p:spPr>
          <a:xfrm>
            <a:off x="3840480" y="3525012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0.672–0.760</a:t>
            </a:r>
            <a:endParaRPr/>
          </a:p>
        </p:txBody>
      </p:sp>
      <p:sp>
        <p:nvSpPr>
          <p:cNvPr id="234" name="Google Shape;234;p30"/>
          <p:cNvSpPr txBox="1"/>
          <p:nvPr/>
        </p:nvSpPr>
        <p:spPr>
          <a:xfrm>
            <a:off x="5577840" y="3525012"/>
            <a:ext cx="25603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Multi-source synthesis</a:t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8321040" y="3525012"/>
            <a:ext cx="6400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A8C4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36" name="Google Shape;236;p30"/>
          <p:cNvSpPr txBox="1"/>
          <p:nvPr/>
        </p:nvSpPr>
        <p:spPr>
          <a:xfrm>
            <a:off x="274320" y="3840480"/>
            <a:ext cx="34747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Q4  IMF mobile money accounts 2022</a:t>
            </a:r>
            <a:endParaRPr/>
          </a:p>
        </p:txBody>
      </p:sp>
      <p:sp>
        <p:nvSpPr>
          <p:cNvPr id="237" name="Google Shape;237;p30"/>
          <p:cNvSpPr txBox="1"/>
          <p:nvPr/>
        </p:nvSpPr>
        <p:spPr>
          <a:xfrm>
            <a:off x="3840480" y="3840480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0.770–0.795</a:t>
            </a:r>
            <a:endParaRPr/>
          </a:p>
        </p:txBody>
      </p:sp>
      <p:sp>
        <p:nvSpPr>
          <p:cNvPr id="238" name="Google Shape;238;p30"/>
          <p:cNvSpPr txBox="1"/>
          <p:nvPr/>
        </p:nvSpPr>
        <p:spPr>
          <a:xfrm>
            <a:off x="5577840" y="3840480"/>
            <a:ext cx="25603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Precise numeric answer</a:t>
            </a:r>
            <a:endParaRPr/>
          </a:p>
        </p:txBody>
      </p:sp>
      <p:sp>
        <p:nvSpPr>
          <p:cNvPr id="239" name="Google Shape;239;p30"/>
          <p:cNvSpPr txBox="1"/>
          <p:nvPr/>
        </p:nvSpPr>
        <p:spPr>
          <a:xfrm>
            <a:off x="8321040" y="3840480"/>
            <a:ext cx="6400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A8C4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40" name="Google Shape;240;p30"/>
          <p:cNvSpPr txBox="1"/>
          <p:nvPr/>
        </p:nvSpPr>
        <p:spPr>
          <a:xfrm>
            <a:off x="274320" y="4155948"/>
            <a:ext cx="34747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Q5  US inflation rate  [out-of-corpus]</a:t>
            </a:r>
            <a:endParaRPr/>
          </a:p>
        </p:txBody>
      </p:sp>
      <p:sp>
        <p:nvSpPr>
          <p:cNvPr id="241" name="Google Shape;241;p30"/>
          <p:cNvSpPr txBox="1"/>
          <p:nvPr/>
        </p:nvSpPr>
        <p:spPr>
          <a:xfrm>
            <a:off x="3840480" y="4155948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0.337–0.377</a:t>
            </a:r>
            <a:endParaRPr/>
          </a:p>
        </p:txBody>
      </p:sp>
      <p:sp>
        <p:nvSpPr>
          <p:cNvPr id="242" name="Google Shape;242;p30"/>
          <p:cNvSpPr txBox="1"/>
          <p:nvPr/>
        </p:nvSpPr>
        <p:spPr>
          <a:xfrm>
            <a:off x="5577840" y="4155948"/>
            <a:ext cx="25603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Correctly refused</a:t>
            </a:r>
            <a:endParaRPr/>
          </a:p>
        </p:txBody>
      </p:sp>
      <p:sp>
        <p:nvSpPr>
          <p:cNvPr id="243" name="Google Shape;243;p30"/>
          <p:cNvSpPr txBox="1"/>
          <p:nvPr/>
        </p:nvSpPr>
        <p:spPr>
          <a:xfrm>
            <a:off x="8321040" y="4155948"/>
            <a:ext cx="6400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A8C4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182875" y="-61900"/>
            <a:ext cx="868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&amp; Live Demo</a:t>
            </a:r>
            <a:endParaRPr/>
          </a:p>
        </p:txBody>
      </p:sp>
      <p:sp>
        <p:nvSpPr>
          <p:cNvPr id="250" name="Google Shape;250;p31"/>
          <p:cNvSpPr/>
          <p:nvPr/>
        </p:nvSpPr>
        <p:spPr>
          <a:xfrm>
            <a:off x="274320" y="445770"/>
            <a:ext cx="8595360" cy="617220"/>
          </a:xfrm>
          <a:prstGeom prst="rect">
            <a:avLst/>
          </a:prstGeom>
          <a:solidFill>
            <a:srgbClr val="3876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365760" y="466344"/>
            <a:ext cx="84124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LIVE APPLICATION URL</a:t>
            </a:r>
            <a:endParaRPr/>
          </a:p>
        </p:txBody>
      </p:sp>
      <p:sp>
        <p:nvSpPr>
          <p:cNvPr id="252" name="Google Shape;252;p31"/>
          <p:cNvSpPr txBox="1"/>
          <p:nvPr/>
        </p:nvSpPr>
        <p:spPr>
          <a:xfrm>
            <a:off x="365760" y="65151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https://huggingface.co/spaces/geredi/BNR-Document-Intelligence</a:t>
            </a:r>
            <a:endParaRPr/>
          </a:p>
        </p:txBody>
      </p:sp>
      <p:sp>
        <p:nvSpPr>
          <p:cNvPr id="253" name="Google Shape;253;p31"/>
          <p:cNvSpPr/>
          <p:nvPr/>
        </p:nvSpPr>
        <p:spPr>
          <a:xfrm>
            <a:off x="274320" y="1179576"/>
            <a:ext cx="41148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274320" y="1179576"/>
            <a:ext cx="4114800" cy="260604"/>
          </a:xfrm>
          <a:prstGeom prst="rect">
            <a:avLst/>
          </a:prstGeom>
          <a:solidFill>
            <a:srgbClr val="3876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320050" y="1200150"/>
            <a:ext cx="397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STACK</a:t>
            </a:r>
            <a:endParaRPr/>
          </a:p>
        </p:txBody>
      </p:sp>
      <p:sp>
        <p:nvSpPr>
          <p:cNvPr id="256" name="Google Shape;256;p31"/>
          <p:cNvSpPr txBox="1"/>
          <p:nvPr/>
        </p:nvSpPr>
        <p:spPr>
          <a:xfrm>
            <a:off x="365760" y="1495044"/>
            <a:ext cx="3931800" cy="1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Platform:  Hugging Face Spaces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Free tier  ·  16 GB RAM  ·  2 vCPU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Runtime:  Docker (python:3.11-slim)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Streamlit on port 7860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Auto-rebuild on every git push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Vector DB:  FAISS IndexFlatIP (local, no external service)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Index rebuilt on cold start (~20-30 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Persists between warm restarts</a:t>
            </a:r>
            <a:endParaRPr/>
          </a:p>
        </p:txBody>
      </p:sp>
      <p:sp>
        <p:nvSpPr>
          <p:cNvPr id="257" name="Google Shape;257;p31"/>
          <p:cNvSpPr/>
          <p:nvPr/>
        </p:nvSpPr>
        <p:spPr>
          <a:xfrm>
            <a:off x="4754880" y="1179576"/>
            <a:ext cx="41148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4754880" y="1179576"/>
            <a:ext cx="4114800" cy="260604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1"/>
          <p:cNvSpPr txBox="1"/>
          <p:nvPr/>
        </p:nvSpPr>
        <p:spPr>
          <a:xfrm>
            <a:off x="4800600" y="1200150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JOURNEY</a:t>
            </a:r>
            <a:endParaRPr/>
          </a:p>
        </p:txBody>
      </p:sp>
      <p:sp>
        <p:nvSpPr>
          <p:cNvPr id="260" name="Google Shape;260;p31"/>
          <p:cNvSpPr txBox="1"/>
          <p:nvPr/>
        </p:nvSpPr>
        <p:spPr>
          <a:xfrm>
            <a:off x="4846320" y="1495044"/>
            <a:ext cx="3931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 Corpus documents collected (4)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 RAG pipeline built from scratch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ingestion → retrieval → generation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 Streamlit UI developed (app.py)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 Evaluation suite run (5 questions)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 Results analysed, failures logged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 Git LFS set up for PDF storage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 Deployed to HF Spaces via Docker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 Secrets configured (API key safe)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Live &amp; accessible 24/7</a:t>
            </a:r>
            <a:endParaRPr/>
          </a:p>
        </p:txBody>
      </p:sp>
      <p:sp>
        <p:nvSpPr>
          <p:cNvPr id="261" name="Google Shape;261;p31"/>
          <p:cNvSpPr/>
          <p:nvPr/>
        </p:nvSpPr>
        <p:spPr>
          <a:xfrm>
            <a:off x="274320" y="4032504"/>
            <a:ext cx="8595360" cy="37719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365760" y="4059936"/>
            <a:ext cx="5029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Source code:  https://github.com/GerediNIYIBIGIRA/BNR-DS-Challenge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5486400" y="4059936"/>
            <a:ext cx="32004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8C4E"/>
                </a:solidFill>
                <a:latin typeface="Calibri"/>
                <a:ea typeface="Calibri"/>
                <a:cs typeface="Calibri"/>
                <a:sym typeface="Calibri"/>
              </a:rPr>
              <a:t>API key stored as HF Secret (never in code)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182875" y="-34250"/>
            <a:ext cx="869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Risks &amp; Governance Considerations</a:t>
            </a:r>
            <a:endParaRPr/>
          </a:p>
        </p:txBody>
      </p:sp>
      <p:sp>
        <p:nvSpPr>
          <p:cNvPr id="270" name="Google Shape;270;p32"/>
          <p:cNvSpPr/>
          <p:nvPr/>
        </p:nvSpPr>
        <p:spPr>
          <a:xfrm>
            <a:off x="182930" y="634283"/>
            <a:ext cx="73200" cy="514500"/>
          </a:xfrm>
          <a:prstGeom prst="rect">
            <a:avLst/>
          </a:prstGeom>
          <a:solidFill>
            <a:srgbClr val="CC33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411480" y="529771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1. Risks in a central bank setting</a:t>
            </a:r>
            <a:endParaRPr/>
          </a:p>
        </p:txBody>
      </p:sp>
      <p:sp>
        <p:nvSpPr>
          <p:cNvPr id="272" name="Google Shape;272;p32"/>
          <p:cNvSpPr txBox="1"/>
          <p:nvPr/>
        </p:nvSpPr>
        <p:spPr>
          <a:xfrm>
            <a:off x="411468" y="781827"/>
            <a:ext cx="85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Misquotation of legal/regulatory text; data leakage to external LLM API; outdated corpus if documents not re-indexed; over-reliance replacing expert judgement. Mitigations: local embeddings (no data egress); strict grounding prompt; mandatory human review.</a:t>
            </a: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182905" y="1386375"/>
            <a:ext cx="73200" cy="514500"/>
          </a:xfrm>
          <a:prstGeom prst="rect">
            <a:avLst/>
          </a:prstGeom>
          <a:solidFill>
            <a:srgbClr val="CC33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411480" y="125555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2. Reducing hallucinations</a:t>
            </a:r>
            <a:endParaRPr/>
          </a:p>
        </p:txBody>
      </p:sp>
      <p:sp>
        <p:nvSpPr>
          <p:cNvPr id="275" name="Google Shape;275;p32"/>
          <p:cNvSpPr txBox="1"/>
          <p:nvPr/>
        </p:nvSpPr>
        <p:spPr>
          <a:xfrm>
            <a:off x="411530" y="1486631"/>
            <a:ext cx="850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System prompt forbids external knowledge. Fallback string enforced. ADD: minimum similarity threshold (&gt;=0.65) to prevent low-confidence answers. Post-retrieval faithfulness check: flag answers not entailed by retrieved chunks.</a:t>
            </a:r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182852" y="2209675"/>
            <a:ext cx="73200" cy="514500"/>
          </a:xfrm>
          <a:prstGeom prst="rect">
            <a:avLst/>
          </a:prstGeom>
          <a:solidFill>
            <a:srgbClr val="1A8C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411549" y="2085888"/>
            <a:ext cx="329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A8C4E"/>
                </a:solidFill>
                <a:latin typeface="Calibri"/>
                <a:ea typeface="Calibri"/>
                <a:cs typeface="Calibri"/>
                <a:sym typeface="Calibri"/>
              </a:rPr>
              <a:t>3. Audit &amp; logging  (already implemented)</a:t>
            </a:r>
            <a:endParaRPr/>
          </a:p>
        </p:txBody>
      </p:sp>
      <p:sp>
        <p:nvSpPr>
          <p:cNvPr id="278" name="Google Shape;278;p32"/>
          <p:cNvSpPr txBox="1"/>
          <p:nvPr/>
        </p:nvSpPr>
        <p:spPr>
          <a:xfrm>
            <a:off x="411530" y="2385484"/>
            <a:ext cx="85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logs/audit.jsonl records every query: timestamp, question, answer preview, sources, similarity scores, tokens, latency, is_fallback flag. In production: centralise in ELK/Splunk with 5-year retention and access control.</a:t>
            </a:r>
            <a:endParaRPr/>
          </a:p>
        </p:txBody>
      </p:sp>
      <p:sp>
        <p:nvSpPr>
          <p:cNvPr id="279" name="Google Shape;279;p32"/>
          <p:cNvSpPr/>
          <p:nvPr/>
        </p:nvSpPr>
        <p:spPr>
          <a:xfrm>
            <a:off x="182880" y="2890519"/>
            <a:ext cx="73200" cy="514500"/>
          </a:xfrm>
          <a:prstGeom prst="rect">
            <a:avLst/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2"/>
          <p:cNvSpPr txBox="1"/>
          <p:nvPr/>
        </p:nvSpPr>
        <p:spPr>
          <a:xfrm>
            <a:off x="411550" y="2825200"/>
            <a:ext cx="345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7BC2"/>
                </a:solidFill>
                <a:latin typeface="Calibri"/>
                <a:ea typeface="Calibri"/>
                <a:cs typeface="Calibri"/>
                <a:sym typeface="Calibri"/>
              </a:rPr>
              <a:t>4. Testing embedding or LLM model</a:t>
            </a:r>
            <a:r>
              <a:rPr b="1" lang="en" sz="1300">
                <a:solidFill>
                  <a:srgbClr val="007BC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1300" u="none" cap="none" strike="noStrike">
                <a:solidFill>
                  <a:srgbClr val="007BC2"/>
                </a:solidFill>
                <a:latin typeface="Calibri"/>
                <a:ea typeface="Calibri"/>
                <a:cs typeface="Calibri"/>
                <a:sym typeface="Calibri"/>
              </a:rPr>
              <a:t>updates</a:t>
            </a:r>
            <a:endParaRPr/>
          </a:p>
        </p:txBody>
      </p:sp>
      <p:sp>
        <p:nvSpPr>
          <p:cNvPr id="281" name="Google Shape;281;p32"/>
          <p:cNvSpPr txBox="1"/>
          <p:nvPr/>
        </p:nvSpPr>
        <p:spPr>
          <a:xfrm>
            <a:off x="411530" y="3099513"/>
            <a:ext cx="85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Maintain golden Q&amp;A test set (these 5 questions + expected sources). For each candidate model: re-index → run test set → compare source-hit rate, faithfulness score, and fallback accuracy vs. baseline. Only promote if all metrics improve.</a:t>
            </a: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182855" y="3694710"/>
            <a:ext cx="73200" cy="514500"/>
          </a:xfrm>
          <a:prstGeom prst="rect">
            <a:avLst/>
          </a:prstGeom>
          <a:solidFill>
            <a:srgbClr val="3876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411480" y="356833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A3C8F"/>
                </a:solidFill>
                <a:latin typeface="Calibri"/>
                <a:ea typeface="Calibri"/>
                <a:cs typeface="Calibri"/>
                <a:sym typeface="Calibri"/>
              </a:rPr>
              <a:t>5. Improvements with more time</a:t>
            </a:r>
            <a:endParaRPr/>
          </a:p>
        </p:txBody>
      </p:sp>
      <p:sp>
        <p:nvSpPr>
          <p:cNvPr id="284" name="Google Shape;284;p32"/>
          <p:cNvSpPr txBox="1"/>
          <p:nvPr/>
        </p:nvSpPr>
        <p:spPr>
          <a:xfrm>
            <a:off x="411418" y="3867916"/>
            <a:ext cx="85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Hybrid retrieval (BM25 + dense) to fix Q1 keyword recall; similarity threshold gate to fix Q4 over-confidence; diversified top-k (force ≥2 sources) to fix Q2/Q5 single-doc bias; cross-encoder reranking; PDF table extraction; Kinyarwanda query support.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