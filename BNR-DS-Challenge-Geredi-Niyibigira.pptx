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957da3d914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g3957da3d914_2_75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957da3d914_2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g3957da3d914_2_85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957da3d914_2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g3957da3d914_2_104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957da3d914_2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g3957da3d914_2_124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957da3d914_2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g3957da3d914_2_133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57da3d914_2_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g3957da3d914_2_154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957da3d914_2_1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g3957da3d914_2_189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957da3d914_2_2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g3957da3d914_2_208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ctrTitle"/>
          </p:nvPr>
        </p:nvSpPr>
        <p:spPr>
          <a:xfrm>
            <a:off x="685800" y="1597819"/>
            <a:ext cx="77724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subTitle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722313" y="3305175"/>
            <a:ext cx="77724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>
            <a:off x="457200" y="1200150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81" name="Google Shape;81;p18"/>
          <p:cNvSpPr txBox="1"/>
          <p:nvPr>
            <p:ph idx="2" type="body"/>
          </p:nvPr>
        </p:nvSpPr>
        <p:spPr>
          <a:xfrm>
            <a:off x="4648200" y="1200150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88" name="Google Shape;88;p19"/>
          <p:cNvSpPr txBox="1"/>
          <p:nvPr>
            <p:ph idx="2" type="body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89" name="Google Shape;89;p19"/>
          <p:cNvSpPr txBox="1"/>
          <p:nvPr>
            <p:ph idx="3" type="body"/>
          </p:nvPr>
        </p:nvSpPr>
        <p:spPr>
          <a:xfrm>
            <a:off x="4645025" y="1151335"/>
            <a:ext cx="4041775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90" name="Google Shape;90;p19"/>
          <p:cNvSpPr txBox="1"/>
          <p:nvPr>
            <p:ph idx="4" type="body"/>
          </p:nvPr>
        </p:nvSpPr>
        <p:spPr>
          <a:xfrm>
            <a:off x="4645025" y="1631156"/>
            <a:ext cx="4041775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457200" y="204788"/>
            <a:ext cx="3008313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3575050" y="204788"/>
            <a:ext cx="5111750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457200" y="1076325"/>
            <a:ext cx="3008313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792288" y="4025503"/>
            <a:ext cx="54864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2874764" y="-1217414"/>
            <a:ext cx="3394472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5463778" y="1371600"/>
            <a:ext cx="4388644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1272778" y="-609600"/>
            <a:ext cx="4388644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6AA84F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>
            <a:off x="0" y="0"/>
            <a:ext cx="9144000" cy="123444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25"/>
          <p:cNvSpPr txBox="1"/>
          <p:nvPr/>
        </p:nvSpPr>
        <p:spPr>
          <a:xfrm>
            <a:off x="457200" y="685800"/>
            <a:ext cx="82296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BNR Document Intelligence Assistant</a:t>
            </a:r>
            <a:endParaRPr/>
          </a:p>
        </p:txBody>
      </p:sp>
      <p:sp>
        <p:nvSpPr>
          <p:cNvPr id="131" name="Google Shape;131;p25"/>
          <p:cNvSpPr txBox="1"/>
          <p:nvPr/>
        </p:nvSpPr>
        <p:spPr>
          <a:xfrm>
            <a:off x="457200" y="157734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000" u="none" cap="none" strike="noStrike">
                <a:solidFill>
                  <a:srgbClr val="CCDDFF"/>
                </a:solidFill>
                <a:latin typeface="Calibri"/>
                <a:ea typeface="Calibri"/>
                <a:cs typeface="Calibri"/>
                <a:sym typeface="Calibri"/>
              </a:rPr>
              <a:t>Retrieval-Augmented Generation (RAG) over BNR Institutional Corpus</a:t>
            </a:r>
            <a:endParaRPr/>
          </a:p>
        </p:txBody>
      </p:sp>
      <p:sp>
        <p:nvSpPr>
          <p:cNvPr id="132" name="Google Shape;132;p25"/>
          <p:cNvSpPr/>
          <p:nvPr/>
        </p:nvSpPr>
        <p:spPr>
          <a:xfrm>
            <a:off x="1371600" y="2263140"/>
            <a:ext cx="6400800" cy="1028700"/>
          </a:xfrm>
          <a:prstGeom prst="rect">
            <a:avLst/>
          </a:prstGeom>
          <a:solidFill>
            <a:srgbClr val="E8F5E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5"/>
          <p:cNvSpPr txBox="1"/>
          <p:nvPr/>
        </p:nvSpPr>
        <p:spPr>
          <a:xfrm>
            <a:off x="1371600" y="2331720"/>
            <a:ext cx="6400800" cy="831000"/>
          </a:xfrm>
          <a:prstGeom prst="rect">
            <a:avLst/>
          </a:prstGeom>
          <a:solidFill>
            <a:srgbClr val="D0E0E3"/>
          </a:solidFill>
          <a:ln cap="flat" cmpd="sng" w="9525">
            <a:solidFill>
              <a:srgbClr val="4343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4 corpus documents  ·  Semantic retrieval  ·  Grounded answers with citations</a:t>
            </a:r>
            <a:br>
              <a:rPr b="0" i="0" lang="en" sz="16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" sz="16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Strict fallback for out-of-corpus questions  ·  Full audit trail</a:t>
            </a:r>
            <a:endParaRPr>
              <a:solidFill>
                <a:srgbClr val="666666"/>
              </a:solidFill>
            </a:endParaRPr>
          </a:p>
        </p:txBody>
      </p:sp>
      <p:sp>
        <p:nvSpPr>
          <p:cNvPr id="134" name="Google Shape;134;p25"/>
          <p:cNvSpPr txBox="1"/>
          <p:nvPr/>
        </p:nvSpPr>
        <p:spPr>
          <a:xfrm>
            <a:off x="457200" y="3703320"/>
            <a:ext cx="8229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AABBDD"/>
                </a:solidFill>
                <a:latin typeface="Calibri"/>
                <a:ea typeface="Calibri"/>
                <a:cs typeface="Calibri"/>
                <a:sym typeface="Calibri"/>
              </a:rPr>
              <a:t>Geredi Niyibigira  ·  BNR Data Science Challenge #1  ·  February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6"/>
          <p:cNvSpPr/>
          <p:nvPr/>
        </p:nvSpPr>
        <p:spPr>
          <a:xfrm>
            <a:off x="0" y="120175"/>
            <a:ext cx="9144000" cy="342900"/>
          </a:xfrm>
          <a:prstGeom prst="rect">
            <a:avLst/>
          </a:prstGeom>
          <a:solidFill>
            <a:srgbClr val="93C47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26"/>
          <p:cNvSpPr txBox="1"/>
          <p:nvPr/>
        </p:nvSpPr>
        <p:spPr>
          <a:xfrm>
            <a:off x="182855" y="32265"/>
            <a:ext cx="87783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System Architecture</a:t>
            </a:r>
            <a:endParaRPr/>
          </a:p>
        </p:txBody>
      </p:sp>
      <p:sp>
        <p:nvSpPr>
          <p:cNvPr id="141" name="Google Shape;141;p26"/>
          <p:cNvSpPr/>
          <p:nvPr/>
        </p:nvSpPr>
        <p:spPr>
          <a:xfrm>
            <a:off x="274320" y="656208"/>
            <a:ext cx="5029200" cy="514500"/>
          </a:xfrm>
          <a:prstGeom prst="rect">
            <a:avLst/>
          </a:prstGeom>
          <a:solidFill>
            <a:srgbClr val="6AA84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6"/>
          <p:cNvSpPr txBox="1"/>
          <p:nvPr/>
        </p:nvSpPr>
        <p:spPr>
          <a:xfrm>
            <a:off x="274300" y="715600"/>
            <a:ext cx="5029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  User Question</a:t>
            </a:r>
            <a:endParaRPr/>
          </a:p>
        </p:txBody>
      </p:sp>
      <p:sp>
        <p:nvSpPr>
          <p:cNvPr id="143" name="Google Shape;143;p26"/>
          <p:cNvSpPr/>
          <p:nvPr/>
        </p:nvSpPr>
        <p:spPr>
          <a:xfrm>
            <a:off x="274295" y="1266018"/>
            <a:ext cx="5029200" cy="514500"/>
          </a:xfrm>
          <a:prstGeom prst="rect">
            <a:avLst/>
          </a:prstGeom>
          <a:solidFill>
            <a:srgbClr val="274E1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26"/>
          <p:cNvSpPr txBox="1"/>
          <p:nvPr/>
        </p:nvSpPr>
        <p:spPr>
          <a:xfrm>
            <a:off x="274300" y="1261663"/>
            <a:ext cx="4683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  Text Embedding</a:t>
            </a:r>
            <a:br>
              <a:rPr b="0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all-MiniLM-L6-v2 (local)</a:t>
            </a:r>
            <a:endParaRPr/>
          </a:p>
        </p:txBody>
      </p:sp>
      <p:sp>
        <p:nvSpPr>
          <p:cNvPr id="145" name="Google Shape;145;p26"/>
          <p:cNvSpPr/>
          <p:nvPr/>
        </p:nvSpPr>
        <p:spPr>
          <a:xfrm>
            <a:off x="274320" y="2023123"/>
            <a:ext cx="5029200" cy="514500"/>
          </a:xfrm>
          <a:prstGeom prst="rect">
            <a:avLst/>
          </a:prstGeom>
          <a:solidFill>
            <a:srgbClr val="6AA84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26"/>
          <p:cNvSpPr txBox="1"/>
          <p:nvPr/>
        </p:nvSpPr>
        <p:spPr>
          <a:xfrm>
            <a:off x="274325" y="2035825"/>
            <a:ext cx="4937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  ChromaDB</a:t>
            </a:r>
            <a:br>
              <a:rPr b="0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Cosine similarity, top-5 chunks</a:t>
            </a:r>
            <a:endParaRPr/>
          </a:p>
        </p:txBody>
      </p:sp>
      <p:sp>
        <p:nvSpPr>
          <p:cNvPr id="147" name="Google Shape;147;p26"/>
          <p:cNvSpPr/>
          <p:nvPr/>
        </p:nvSpPr>
        <p:spPr>
          <a:xfrm>
            <a:off x="274320" y="2723265"/>
            <a:ext cx="5029200" cy="514500"/>
          </a:xfrm>
          <a:prstGeom prst="rect">
            <a:avLst/>
          </a:prstGeom>
          <a:solidFill>
            <a:srgbClr val="274E1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6"/>
          <p:cNvSpPr txBox="1"/>
          <p:nvPr/>
        </p:nvSpPr>
        <p:spPr>
          <a:xfrm>
            <a:off x="320075" y="2671875"/>
            <a:ext cx="47562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  Context + Prompt</a:t>
            </a:r>
            <a:br>
              <a:rPr b="0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Strict grounding instructions</a:t>
            </a:r>
            <a:endParaRPr/>
          </a:p>
        </p:txBody>
      </p:sp>
      <p:sp>
        <p:nvSpPr>
          <p:cNvPr id="149" name="Google Shape;149;p26"/>
          <p:cNvSpPr/>
          <p:nvPr/>
        </p:nvSpPr>
        <p:spPr>
          <a:xfrm>
            <a:off x="274320" y="3449120"/>
            <a:ext cx="5029200" cy="514500"/>
          </a:xfrm>
          <a:prstGeom prst="rect">
            <a:avLst/>
          </a:prstGeom>
          <a:solidFill>
            <a:srgbClr val="6AA84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6"/>
          <p:cNvSpPr txBox="1"/>
          <p:nvPr/>
        </p:nvSpPr>
        <p:spPr>
          <a:xfrm>
            <a:off x="229300" y="3444775"/>
            <a:ext cx="4846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  LLM</a:t>
            </a:r>
            <a:br>
              <a:rPr b="0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Grounded answer + citations</a:t>
            </a:r>
            <a:endParaRPr/>
          </a:p>
        </p:txBody>
      </p:sp>
      <p:sp>
        <p:nvSpPr>
          <p:cNvPr id="151" name="Google Shape;151;p26"/>
          <p:cNvSpPr/>
          <p:nvPr/>
        </p:nvSpPr>
        <p:spPr>
          <a:xfrm>
            <a:off x="274320" y="4217665"/>
            <a:ext cx="5029200" cy="514500"/>
          </a:xfrm>
          <a:prstGeom prst="rect">
            <a:avLst/>
          </a:prstGeom>
          <a:solidFill>
            <a:srgbClr val="1A8C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6"/>
          <p:cNvSpPr txBox="1"/>
          <p:nvPr/>
        </p:nvSpPr>
        <p:spPr>
          <a:xfrm>
            <a:off x="320050" y="4251950"/>
            <a:ext cx="47562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  Audit Logger</a:t>
            </a:r>
            <a:br>
              <a:rPr b="0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logs/audit.jsonl</a:t>
            </a:r>
            <a:endParaRPr/>
          </a:p>
        </p:txBody>
      </p:sp>
      <p:sp>
        <p:nvSpPr>
          <p:cNvPr id="153" name="Google Shape;153;p26"/>
          <p:cNvSpPr/>
          <p:nvPr/>
        </p:nvSpPr>
        <p:spPr>
          <a:xfrm>
            <a:off x="5715030" y="540005"/>
            <a:ext cx="3200400" cy="3840600"/>
          </a:xfrm>
          <a:prstGeom prst="rect">
            <a:avLst/>
          </a:prstGeom>
          <a:solidFill>
            <a:srgbClr val="F4F6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6"/>
          <p:cNvSpPr txBox="1"/>
          <p:nvPr/>
        </p:nvSpPr>
        <p:spPr>
          <a:xfrm>
            <a:off x="5760775" y="540001"/>
            <a:ext cx="3108900" cy="3258000"/>
          </a:xfrm>
          <a:prstGeom prst="rect">
            <a:avLst/>
          </a:prstGeom>
          <a:solidFill>
            <a:srgbClr val="E8F5EC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COMPONENTS</a:t>
            </a:r>
            <a:endParaRPr b="1" i="0" sz="13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Embeddings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sentence-transformers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384-dim, CPU, no API key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Vector Store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ChromaDB (persistent)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Cosine similarity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LLM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Claude 3.5 Haiku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Anthropic API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Chunking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600 words / 100 overlap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7"/>
          <p:cNvSpPr/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93C47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7"/>
          <p:cNvSpPr txBox="1"/>
          <p:nvPr/>
        </p:nvSpPr>
        <p:spPr>
          <a:xfrm>
            <a:off x="182875" y="34300"/>
            <a:ext cx="86904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Design Choices</a:t>
            </a:r>
            <a:endParaRPr/>
          </a:p>
        </p:txBody>
      </p:sp>
      <p:sp>
        <p:nvSpPr>
          <p:cNvPr id="161" name="Google Shape;161;p27"/>
          <p:cNvSpPr/>
          <p:nvPr/>
        </p:nvSpPr>
        <p:spPr>
          <a:xfrm>
            <a:off x="182905" y="607720"/>
            <a:ext cx="73200" cy="377100"/>
          </a:xfrm>
          <a:prstGeom prst="rect">
            <a:avLst/>
          </a:prstGeom>
          <a:solidFill>
            <a:srgbClr val="6AA84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7"/>
          <p:cNvSpPr txBox="1"/>
          <p:nvPr/>
        </p:nvSpPr>
        <p:spPr>
          <a:xfrm>
            <a:off x="411480" y="445770"/>
            <a:ext cx="2286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6AA84F"/>
                </a:solidFill>
                <a:latin typeface="Calibri"/>
                <a:ea typeface="Calibri"/>
                <a:cs typeface="Calibri"/>
                <a:sym typeface="Calibri"/>
              </a:rPr>
              <a:t>Local Embeddings</a:t>
            </a:r>
            <a:endParaRPr>
              <a:solidFill>
                <a:srgbClr val="6AA84F"/>
              </a:solidFill>
            </a:endParaRPr>
          </a:p>
        </p:txBody>
      </p:sp>
      <p:sp>
        <p:nvSpPr>
          <p:cNvPr id="163" name="Google Shape;163;p27"/>
          <p:cNvSpPr txBox="1"/>
          <p:nvPr/>
        </p:nvSpPr>
        <p:spPr>
          <a:xfrm>
            <a:off x="411480" y="702326"/>
            <a:ext cx="8503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all-MiniLM-L6-v2 runs entirely on CPU — corpus text never leaves the institution's infrastructure.</a:t>
            </a:r>
            <a:endParaRPr/>
          </a:p>
        </p:txBody>
      </p:sp>
      <p:sp>
        <p:nvSpPr>
          <p:cNvPr id="164" name="Google Shape;164;p27"/>
          <p:cNvSpPr/>
          <p:nvPr/>
        </p:nvSpPr>
        <p:spPr>
          <a:xfrm>
            <a:off x="182880" y="1249645"/>
            <a:ext cx="73200" cy="377100"/>
          </a:xfrm>
          <a:prstGeom prst="rect">
            <a:avLst/>
          </a:prstGeom>
          <a:solidFill>
            <a:srgbClr val="38761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7"/>
          <p:cNvSpPr txBox="1"/>
          <p:nvPr/>
        </p:nvSpPr>
        <p:spPr>
          <a:xfrm>
            <a:off x="411480" y="1131570"/>
            <a:ext cx="2286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38761D"/>
                </a:solidFill>
                <a:latin typeface="Calibri"/>
                <a:ea typeface="Calibri"/>
                <a:cs typeface="Calibri"/>
                <a:sym typeface="Calibri"/>
              </a:rPr>
              <a:t>Strict Grounding Prompt</a:t>
            </a:r>
            <a:endParaRPr>
              <a:solidFill>
                <a:srgbClr val="38761D"/>
              </a:solidFill>
            </a:endParaRPr>
          </a:p>
        </p:txBody>
      </p:sp>
      <p:sp>
        <p:nvSpPr>
          <p:cNvPr id="166" name="Google Shape;166;p27"/>
          <p:cNvSpPr txBox="1"/>
          <p:nvPr/>
        </p:nvSpPr>
        <p:spPr>
          <a:xfrm>
            <a:off x="411480" y="1351026"/>
            <a:ext cx="8503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System prompt forbids the LLM from using external knowledge. Mandatory fallback: "The answer cannot be determined from the provided documents."</a:t>
            </a:r>
            <a:endParaRPr/>
          </a:p>
        </p:txBody>
      </p:sp>
      <p:sp>
        <p:nvSpPr>
          <p:cNvPr id="167" name="Google Shape;167;p27"/>
          <p:cNvSpPr/>
          <p:nvPr/>
        </p:nvSpPr>
        <p:spPr>
          <a:xfrm>
            <a:off x="182880" y="1817370"/>
            <a:ext cx="73152" cy="377190"/>
          </a:xfrm>
          <a:prstGeom prst="rect">
            <a:avLst/>
          </a:prstGeom>
          <a:solidFill>
            <a:srgbClr val="6AA84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7"/>
          <p:cNvSpPr txBox="1"/>
          <p:nvPr/>
        </p:nvSpPr>
        <p:spPr>
          <a:xfrm>
            <a:off x="411480" y="1817370"/>
            <a:ext cx="2286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6AA84F"/>
                </a:solidFill>
                <a:latin typeface="Calibri"/>
                <a:ea typeface="Calibri"/>
                <a:cs typeface="Calibri"/>
                <a:sym typeface="Calibri"/>
              </a:rPr>
              <a:t>Metadata Preservation</a:t>
            </a:r>
            <a:endParaRPr>
              <a:solidFill>
                <a:srgbClr val="6AA84F"/>
              </a:solidFill>
            </a:endParaRPr>
          </a:p>
        </p:txBody>
      </p:sp>
      <p:sp>
        <p:nvSpPr>
          <p:cNvPr id="169" name="Google Shape;169;p27"/>
          <p:cNvSpPr txBox="1"/>
          <p:nvPr/>
        </p:nvSpPr>
        <p:spPr>
          <a:xfrm>
            <a:off x="411480" y="2036826"/>
            <a:ext cx="8503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Every chunk retains source document name, filename, page number, and doc type. Enables precise citations and filtered retrieval.</a:t>
            </a:r>
            <a:endParaRPr/>
          </a:p>
        </p:txBody>
      </p:sp>
      <p:sp>
        <p:nvSpPr>
          <p:cNvPr id="170" name="Google Shape;170;p27"/>
          <p:cNvSpPr/>
          <p:nvPr/>
        </p:nvSpPr>
        <p:spPr>
          <a:xfrm>
            <a:off x="182880" y="2621270"/>
            <a:ext cx="73200" cy="377100"/>
          </a:xfrm>
          <a:prstGeom prst="rect">
            <a:avLst/>
          </a:prstGeom>
          <a:solidFill>
            <a:srgbClr val="38761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7"/>
          <p:cNvSpPr txBox="1"/>
          <p:nvPr/>
        </p:nvSpPr>
        <p:spPr>
          <a:xfrm>
            <a:off x="411480" y="2503170"/>
            <a:ext cx="2286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38761D"/>
                </a:solidFill>
                <a:latin typeface="Calibri"/>
                <a:ea typeface="Calibri"/>
                <a:cs typeface="Calibri"/>
                <a:sym typeface="Calibri"/>
              </a:rPr>
              <a:t>Persistent Vector Index</a:t>
            </a:r>
            <a:endParaRPr>
              <a:solidFill>
                <a:srgbClr val="38761D"/>
              </a:solidFill>
            </a:endParaRPr>
          </a:p>
        </p:txBody>
      </p:sp>
      <p:sp>
        <p:nvSpPr>
          <p:cNvPr id="172" name="Google Shape;172;p27"/>
          <p:cNvSpPr txBox="1"/>
          <p:nvPr/>
        </p:nvSpPr>
        <p:spPr>
          <a:xfrm>
            <a:off x="411480" y="2722626"/>
            <a:ext cx="8503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ChromaDB persists to disk (chroma_db/). Re-indexing only needed when the corpus changes — cold start avoided on every query.</a:t>
            </a:r>
            <a:endParaRPr/>
          </a:p>
        </p:txBody>
      </p:sp>
      <p:sp>
        <p:nvSpPr>
          <p:cNvPr id="173" name="Google Shape;173;p27"/>
          <p:cNvSpPr/>
          <p:nvPr/>
        </p:nvSpPr>
        <p:spPr>
          <a:xfrm>
            <a:off x="182905" y="3299170"/>
            <a:ext cx="73200" cy="377100"/>
          </a:xfrm>
          <a:prstGeom prst="rect">
            <a:avLst/>
          </a:prstGeom>
          <a:solidFill>
            <a:srgbClr val="1A8C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7"/>
          <p:cNvSpPr txBox="1"/>
          <p:nvPr/>
        </p:nvSpPr>
        <p:spPr>
          <a:xfrm>
            <a:off x="411480" y="3188970"/>
            <a:ext cx="22860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A8C4E"/>
                </a:solidFill>
                <a:latin typeface="Calibri"/>
                <a:ea typeface="Calibri"/>
                <a:cs typeface="Calibri"/>
                <a:sym typeface="Calibri"/>
              </a:rPr>
              <a:t>Audit Trail</a:t>
            </a:r>
            <a:endParaRPr/>
          </a:p>
        </p:txBody>
      </p:sp>
      <p:sp>
        <p:nvSpPr>
          <p:cNvPr id="175" name="Google Shape;175;p27"/>
          <p:cNvSpPr txBox="1"/>
          <p:nvPr/>
        </p:nvSpPr>
        <p:spPr>
          <a:xfrm>
            <a:off x="411480" y="3408426"/>
            <a:ext cx="8503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Every query is appended to logs/audit.jsonl with timestamp, tokens, latency, sources retrieved, and whether the fallback was triggered.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8"/>
          <p:cNvSpPr/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93C47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8"/>
          <p:cNvSpPr txBox="1"/>
          <p:nvPr/>
        </p:nvSpPr>
        <p:spPr>
          <a:xfrm>
            <a:off x="56930" y="-43960"/>
            <a:ext cx="87783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Retrieval Approach</a:t>
            </a:r>
            <a:endParaRPr/>
          </a:p>
        </p:txBody>
      </p:sp>
      <p:sp>
        <p:nvSpPr>
          <p:cNvPr id="182" name="Google Shape;182;p28"/>
          <p:cNvSpPr/>
          <p:nvPr/>
        </p:nvSpPr>
        <p:spPr>
          <a:xfrm>
            <a:off x="182880" y="445770"/>
            <a:ext cx="4206240" cy="3840480"/>
          </a:xfrm>
          <a:prstGeom prst="rect">
            <a:avLst/>
          </a:prstGeom>
          <a:solidFill>
            <a:srgbClr val="F4F6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8"/>
          <p:cNvSpPr txBox="1"/>
          <p:nvPr/>
        </p:nvSpPr>
        <p:spPr>
          <a:xfrm>
            <a:off x="320040" y="480060"/>
            <a:ext cx="4023300" cy="28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HOW IT WORKS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1.  Query → embedding vector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 (same model as indexing)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2.  Cosine similarity search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 across all ~2,000+ chunks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3.  Top-5 chunks returned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 with similarity scores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4.  Low-quality chunks filtered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 (&lt; 80 chars at index time)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5.  Chunks + question passed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 to the LLM for generation</a:t>
            </a:r>
            <a:endParaRPr/>
          </a:p>
        </p:txBody>
      </p:sp>
      <p:sp>
        <p:nvSpPr>
          <p:cNvPr id="184" name="Google Shape;184;p28"/>
          <p:cNvSpPr/>
          <p:nvPr/>
        </p:nvSpPr>
        <p:spPr>
          <a:xfrm>
            <a:off x="4663440" y="445770"/>
            <a:ext cx="4297680" cy="3840480"/>
          </a:xfrm>
          <a:prstGeom prst="rect">
            <a:avLst/>
          </a:prstGeom>
          <a:solidFill>
            <a:srgbClr val="F4F6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8"/>
          <p:cNvSpPr txBox="1"/>
          <p:nvPr/>
        </p:nvSpPr>
        <p:spPr>
          <a:xfrm>
            <a:off x="4800600" y="480060"/>
            <a:ext cx="4114800" cy="38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CORPUS DOCUMENT HANDLING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PDF documents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· pypdf text extraction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· 600-word sliding window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· Page number preserved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CSV (IMF dataset)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· One chunk per indicator row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· Year columns as key-value pairs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· indicator name in metadata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Multi-source queries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· No per-document filter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· Naturally surfaces best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chunks from all 4 docs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9"/>
          <p:cNvSpPr/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93C47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9"/>
          <p:cNvSpPr txBox="1"/>
          <p:nvPr/>
        </p:nvSpPr>
        <p:spPr>
          <a:xfrm>
            <a:off x="182850" y="-19325"/>
            <a:ext cx="86412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Example Outputs  (live evaluation results)</a:t>
            </a:r>
            <a:endParaRPr/>
          </a:p>
        </p:txBody>
      </p:sp>
      <p:sp>
        <p:nvSpPr>
          <p:cNvPr id="192" name="Google Shape;192;p29"/>
          <p:cNvSpPr/>
          <p:nvPr/>
        </p:nvSpPr>
        <p:spPr>
          <a:xfrm>
            <a:off x="182880" y="411480"/>
            <a:ext cx="8778240" cy="891540"/>
          </a:xfrm>
          <a:prstGeom prst="rect">
            <a:avLst/>
          </a:prstGeom>
          <a:solidFill>
            <a:srgbClr val="F4F6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9"/>
          <p:cNvSpPr/>
          <p:nvPr/>
        </p:nvSpPr>
        <p:spPr>
          <a:xfrm>
            <a:off x="182880" y="411480"/>
            <a:ext cx="64008" cy="891540"/>
          </a:xfrm>
          <a:prstGeom prst="rect">
            <a:avLst/>
          </a:prstGeom>
          <a:solidFill>
            <a:srgbClr val="6AA84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9"/>
          <p:cNvSpPr txBox="1"/>
          <p:nvPr/>
        </p:nvSpPr>
        <p:spPr>
          <a:xfrm>
            <a:off x="411480" y="438912"/>
            <a:ext cx="8412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00" u="none" cap="none" strike="noStrike">
                <a:solidFill>
                  <a:srgbClr val="6AA84F"/>
                </a:solidFill>
                <a:latin typeface="Calibri"/>
                <a:ea typeface="Calibri"/>
                <a:cs typeface="Calibri"/>
                <a:sym typeface="Calibri"/>
              </a:rPr>
              <a:t>Q1 — Barriers to financial inclusion in rural Rwanda</a:t>
            </a:r>
            <a:endParaRPr>
              <a:solidFill>
                <a:srgbClr val="6AA84F"/>
              </a:solidFill>
            </a:endParaRPr>
          </a:p>
        </p:txBody>
      </p:sp>
      <p:sp>
        <p:nvSpPr>
          <p:cNvPr id="195" name="Google Shape;195;p29"/>
          <p:cNvSpPr txBox="1"/>
          <p:nvPr/>
        </p:nvSpPr>
        <p:spPr>
          <a:xfrm>
            <a:off x="411480" y="672084"/>
            <a:ext cx="841248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Retrieved: FinScope 2024 pp. 75, 32, 33, 5, 15 (sim 0.72–0.75)  |  Latency: 2.6 s</a:t>
            </a:r>
            <a:b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Answer: Appropriate refusal — retrieved pages cover achievements &amp; recommendations, not barriers. System correctly refused rather than fabricating an answer. Limitation: semantic search matched the topic but not the sub-topic; hybrid BM25 would improve recall.</a:t>
            </a:r>
            <a:endParaRPr/>
          </a:p>
        </p:txBody>
      </p:sp>
      <p:sp>
        <p:nvSpPr>
          <p:cNvPr id="196" name="Google Shape;196;p29"/>
          <p:cNvSpPr/>
          <p:nvPr/>
        </p:nvSpPr>
        <p:spPr>
          <a:xfrm>
            <a:off x="182880" y="1508760"/>
            <a:ext cx="8778240" cy="891540"/>
          </a:xfrm>
          <a:prstGeom prst="rect">
            <a:avLst/>
          </a:prstGeom>
          <a:solidFill>
            <a:srgbClr val="F4F6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9"/>
          <p:cNvSpPr/>
          <p:nvPr/>
        </p:nvSpPr>
        <p:spPr>
          <a:xfrm>
            <a:off x="182880" y="1508760"/>
            <a:ext cx="64008" cy="891540"/>
          </a:xfrm>
          <a:prstGeom prst="rect">
            <a:avLst/>
          </a:prstGeom>
          <a:solidFill>
            <a:srgbClr val="38761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9"/>
          <p:cNvSpPr txBox="1"/>
          <p:nvPr/>
        </p:nvSpPr>
        <p:spPr>
          <a:xfrm>
            <a:off x="411480" y="1536192"/>
            <a:ext cx="8412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00" u="none" cap="none" strike="noStrike">
                <a:solidFill>
                  <a:srgbClr val="38761D"/>
                </a:solidFill>
                <a:latin typeface="Calibri"/>
                <a:ea typeface="Calibri"/>
                <a:cs typeface="Calibri"/>
                <a:sym typeface="Calibri"/>
              </a:rPr>
              <a:t>Q2 — Gender gap in mobile money</a:t>
            </a:r>
            <a:endParaRPr>
              <a:solidFill>
                <a:srgbClr val="38761D"/>
              </a:solidFill>
            </a:endParaRPr>
          </a:p>
        </p:txBody>
      </p:sp>
      <p:sp>
        <p:nvSpPr>
          <p:cNvPr id="199" name="Google Shape;199;p29"/>
          <p:cNvSpPr txBox="1"/>
          <p:nvPr/>
        </p:nvSpPr>
        <p:spPr>
          <a:xfrm>
            <a:off x="411480" y="1769364"/>
            <a:ext cx="841248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Retrieved: GSMA 2025 pp. 70–77 (sim 0.72–0.77)  |  Latency: 5.7 s</a:t>
            </a:r>
            <a:b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Answer: Detailed &amp; accurate — Pakistan women 70% less likely to own accounts; frequency &amp; transaction-type gaps quantified. Limitation: Rwanda-specific gender data (FinScope) was not retrieved — single-document bias toward GSMA.</a:t>
            </a:r>
            <a:endParaRPr/>
          </a:p>
        </p:txBody>
      </p:sp>
      <p:sp>
        <p:nvSpPr>
          <p:cNvPr id="200" name="Google Shape;200;p29"/>
          <p:cNvSpPr/>
          <p:nvPr/>
        </p:nvSpPr>
        <p:spPr>
          <a:xfrm>
            <a:off x="182880" y="2606040"/>
            <a:ext cx="8778240" cy="891540"/>
          </a:xfrm>
          <a:prstGeom prst="rect">
            <a:avLst/>
          </a:prstGeom>
          <a:solidFill>
            <a:srgbClr val="F4F6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9"/>
          <p:cNvSpPr/>
          <p:nvPr/>
        </p:nvSpPr>
        <p:spPr>
          <a:xfrm>
            <a:off x="182880" y="2606040"/>
            <a:ext cx="64008" cy="891540"/>
          </a:xfrm>
          <a:prstGeom prst="rect">
            <a:avLst/>
          </a:prstGeom>
          <a:solidFill>
            <a:srgbClr val="6AA84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9"/>
          <p:cNvSpPr txBox="1"/>
          <p:nvPr/>
        </p:nvSpPr>
        <p:spPr>
          <a:xfrm>
            <a:off x="411480" y="2633472"/>
            <a:ext cx="8412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00" u="none" cap="none" strike="noStrike">
                <a:solidFill>
                  <a:srgbClr val="6AA84F"/>
                </a:solidFill>
                <a:latin typeface="Calibri"/>
                <a:ea typeface="Calibri"/>
                <a:cs typeface="Calibri"/>
                <a:sym typeface="Calibri"/>
              </a:rPr>
              <a:t>Q3 — NBR's operational role in the payment system</a:t>
            </a:r>
            <a:endParaRPr>
              <a:solidFill>
                <a:srgbClr val="6AA84F"/>
              </a:solidFill>
            </a:endParaRPr>
          </a:p>
        </p:txBody>
      </p:sp>
      <p:sp>
        <p:nvSpPr>
          <p:cNvPr id="203" name="Google Shape;203;p29"/>
          <p:cNvSpPr txBox="1"/>
          <p:nvPr/>
        </p:nvSpPr>
        <p:spPr>
          <a:xfrm>
            <a:off x="411480" y="2866644"/>
            <a:ext cx="841248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Retrieved: Law No. 061/2021 p.1 + p.40; FinScope pp. 60, 61 (sim 0.67–0.76)  |  Latency: 5.3 s</a:t>
            </a:r>
            <a:b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Answer: Multi-source synthesis — Art. 4 (General Powers), Art. 5 (Investigative), Interoperability, RNPS Strategy 2018–2024. Limitation: strategic role cited via FinScope (secondary) rather than the law itself; one article number not specified.</a:t>
            </a:r>
            <a:endParaRPr/>
          </a:p>
        </p:txBody>
      </p:sp>
      <p:sp>
        <p:nvSpPr>
          <p:cNvPr id="204" name="Google Shape;204;p29"/>
          <p:cNvSpPr/>
          <p:nvPr/>
        </p:nvSpPr>
        <p:spPr>
          <a:xfrm>
            <a:off x="182880" y="3703320"/>
            <a:ext cx="8778240" cy="891540"/>
          </a:xfrm>
          <a:prstGeom prst="rect">
            <a:avLst/>
          </a:prstGeom>
          <a:solidFill>
            <a:srgbClr val="F4F6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9"/>
          <p:cNvSpPr/>
          <p:nvPr/>
        </p:nvSpPr>
        <p:spPr>
          <a:xfrm>
            <a:off x="182880" y="3703320"/>
            <a:ext cx="64008" cy="891540"/>
          </a:xfrm>
          <a:prstGeom prst="rect">
            <a:avLst/>
          </a:prstGeom>
          <a:solidFill>
            <a:srgbClr val="CC333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9"/>
          <p:cNvSpPr txBox="1"/>
          <p:nvPr/>
        </p:nvSpPr>
        <p:spPr>
          <a:xfrm>
            <a:off x="411480" y="3730752"/>
            <a:ext cx="84124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00" u="none" cap="none" strike="noStrike">
                <a:solidFill>
                  <a:srgbClr val="CC3333"/>
                </a:solidFill>
                <a:latin typeface="Calibri"/>
                <a:ea typeface="Calibri"/>
                <a:cs typeface="Calibri"/>
                <a:sym typeface="Calibri"/>
              </a:rPr>
              <a:t>Q4 — Has digital payment adoption increased?  [CRITICAL FAILURE CASE]</a:t>
            </a:r>
            <a:endParaRPr/>
          </a:p>
        </p:txBody>
      </p:sp>
      <p:sp>
        <p:nvSpPr>
          <p:cNvPr id="207" name="Google Shape;207;p29"/>
          <p:cNvSpPr txBox="1"/>
          <p:nvPr/>
        </p:nvSpPr>
        <p:spPr>
          <a:xfrm>
            <a:off x="411480" y="3963924"/>
            <a:ext cx="841248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Retrieved: GSMA pp. 57–61 — ALL similarity scores &lt; 0.58 (weakest in evaluation)  |  Latency: 5.9 s</a:t>
            </a:r>
            <a:b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Answer: Confident ASEAN-region statistics returned despite low retrieval confidence. Q1 with HIGHER scores (0.72) correctly refused; this did not. Root cause: no minimum similarity threshold gate — fixed by adding cutoff ≥ 0.65.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0"/>
          <p:cNvSpPr/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93C47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30"/>
          <p:cNvSpPr txBox="1"/>
          <p:nvPr/>
        </p:nvSpPr>
        <p:spPr>
          <a:xfrm>
            <a:off x="182875" y="0"/>
            <a:ext cx="86868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Evaluation Findings &amp; Limitations</a:t>
            </a:r>
            <a:endParaRPr/>
          </a:p>
        </p:txBody>
      </p:sp>
      <p:sp>
        <p:nvSpPr>
          <p:cNvPr id="214" name="Google Shape;214;p30"/>
          <p:cNvSpPr/>
          <p:nvPr/>
        </p:nvSpPr>
        <p:spPr>
          <a:xfrm>
            <a:off x="182880" y="411480"/>
            <a:ext cx="4206240" cy="2057400"/>
          </a:xfrm>
          <a:prstGeom prst="rect">
            <a:avLst/>
          </a:prstGeom>
          <a:solidFill>
            <a:srgbClr val="E8F5E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30"/>
          <p:cNvSpPr/>
          <p:nvPr/>
        </p:nvSpPr>
        <p:spPr>
          <a:xfrm>
            <a:off x="182880" y="411480"/>
            <a:ext cx="4206240" cy="274320"/>
          </a:xfrm>
          <a:prstGeom prst="rect">
            <a:avLst/>
          </a:prstGeom>
          <a:solidFill>
            <a:srgbClr val="1A8C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30"/>
          <p:cNvSpPr txBox="1"/>
          <p:nvPr/>
        </p:nvSpPr>
        <p:spPr>
          <a:xfrm>
            <a:off x="228600" y="42519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WHAT WORKS WELL</a:t>
            </a:r>
            <a:endParaRPr/>
          </a:p>
        </p:txBody>
      </p:sp>
      <p:sp>
        <p:nvSpPr>
          <p:cNvPr id="217" name="Google Shape;217;p30"/>
          <p:cNvSpPr txBox="1"/>
          <p:nvPr/>
        </p:nvSpPr>
        <p:spPr>
          <a:xfrm>
            <a:off x="274320" y="720090"/>
            <a:ext cx="4023360" cy="17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No hallucination in any of the 5 answers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Appropriate refusal on Q1 (correct grounding)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Article-level legal citations on Q3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GSMA gender chapter retrieved precisely (Q2)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Honest partial answer on Q5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Full audit trail in logs/audit.jsonl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368 chunks indexed from 4 heterogeneous docs</a:t>
            </a:r>
            <a:endParaRPr/>
          </a:p>
        </p:txBody>
      </p:sp>
      <p:sp>
        <p:nvSpPr>
          <p:cNvPr id="218" name="Google Shape;218;p30"/>
          <p:cNvSpPr/>
          <p:nvPr/>
        </p:nvSpPr>
        <p:spPr>
          <a:xfrm>
            <a:off x="4754880" y="411480"/>
            <a:ext cx="4206240" cy="2057400"/>
          </a:xfrm>
          <a:prstGeom prst="rect">
            <a:avLst/>
          </a:prstGeom>
          <a:solidFill>
            <a:srgbClr val="FDF0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30"/>
          <p:cNvSpPr/>
          <p:nvPr/>
        </p:nvSpPr>
        <p:spPr>
          <a:xfrm>
            <a:off x="4754880" y="411480"/>
            <a:ext cx="4206240" cy="274320"/>
          </a:xfrm>
          <a:prstGeom prst="rect">
            <a:avLst/>
          </a:prstGeom>
          <a:solidFill>
            <a:srgbClr val="CC333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30"/>
          <p:cNvSpPr txBox="1"/>
          <p:nvPr/>
        </p:nvSpPr>
        <p:spPr>
          <a:xfrm>
            <a:off x="4800600" y="42519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IDENTIFIED FAILURES</a:t>
            </a:r>
            <a:endParaRPr/>
          </a:p>
        </p:txBody>
      </p:sp>
      <p:sp>
        <p:nvSpPr>
          <p:cNvPr id="221" name="Google Shape;221;p30"/>
          <p:cNvSpPr txBox="1"/>
          <p:nvPr/>
        </p:nvSpPr>
        <p:spPr>
          <a:xfrm>
            <a:off x="4846320" y="720090"/>
            <a:ext cx="4023360" cy="17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Q4: sim &lt; 0.58 → confident answer (no gate)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Q2: Rwanda gender data not retrieved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Q5: GSMA not surfaced for comparison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Q1: 'barriers' semantically missed in top-5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PDF tables &amp; figures not extracted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No minimum similarity threshold enforced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Single-document bias on multi-source queries</a:t>
            </a:r>
            <a:endParaRPr/>
          </a:p>
        </p:txBody>
      </p:sp>
      <p:sp>
        <p:nvSpPr>
          <p:cNvPr id="222" name="Google Shape;222;p30"/>
          <p:cNvSpPr/>
          <p:nvPr/>
        </p:nvSpPr>
        <p:spPr>
          <a:xfrm>
            <a:off x="182880" y="2571750"/>
            <a:ext cx="8778240" cy="1988820"/>
          </a:xfrm>
          <a:prstGeom prst="rect">
            <a:avLst/>
          </a:prstGeom>
          <a:solidFill>
            <a:srgbClr val="F4F6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30"/>
          <p:cNvSpPr txBox="1"/>
          <p:nvPr/>
        </p:nvSpPr>
        <p:spPr>
          <a:xfrm>
            <a:off x="274320" y="2606040"/>
            <a:ext cx="8595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6AA84F"/>
                </a:solidFill>
                <a:latin typeface="Calibri"/>
                <a:ea typeface="Calibri"/>
                <a:cs typeface="Calibri"/>
                <a:sym typeface="Calibri"/>
              </a:rPr>
              <a:t>MEASURED METRICS  (5 questions, live run)</a:t>
            </a:r>
            <a:endParaRPr>
              <a:solidFill>
                <a:srgbClr val="6AA84F"/>
              </a:solidFill>
            </a:endParaRPr>
          </a:p>
        </p:txBody>
      </p:sp>
      <p:sp>
        <p:nvSpPr>
          <p:cNvPr id="224" name="Google Shape;224;p30"/>
          <p:cNvSpPr txBox="1"/>
          <p:nvPr/>
        </p:nvSpPr>
        <p:spPr>
          <a:xfrm>
            <a:off x="274320" y="2894076"/>
            <a:ext cx="34747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Q1  Barriers (rural Rwanda)</a:t>
            </a:r>
            <a:endParaRPr/>
          </a:p>
        </p:txBody>
      </p:sp>
      <p:sp>
        <p:nvSpPr>
          <p:cNvPr id="225" name="Google Shape;225;p30"/>
          <p:cNvSpPr txBox="1"/>
          <p:nvPr/>
        </p:nvSpPr>
        <p:spPr>
          <a:xfrm>
            <a:off x="3840480" y="2894076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0.718–0.752</a:t>
            </a:r>
            <a:endParaRPr/>
          </a:p>
        </p:txBody>
      </p:sp>
      <p:sp>
        <p:nvSpPr>
          <p:cNvPr id="226" name="Google Shape;226;p30"/>
          <p:cNvSpPr txBox="1"/>
          <p:nvPr/>
        </p:nvSpPr>
        <p:spPr>
          <a:xfrm>
            <a:off x="5577840" y="2894076"/>
            <a:ext cx="25603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Appropriate refusal</a:t>
            </a:r>
            <a:endParaRPr/>
          </a:p>
        </p:txBody>
      </p:sp>
      <p:sp>
        <p:nvSpPr>
          <p:cNvPr id="227" name="Google Shape;227;p30"/>
          <p:cNvSpPr txBox="1"/>
          <p:nvPr/>
        </p:nvSpPr>
        <p:spPr>
          <a:xfrm>
            <a:off x="8321040" y="2894076"/>
            <a:ext cx="64008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00" u="none" cap="none" strike="noStrike">
                <a:solidFill>
                  <a:srgbClr val="1A8C4E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228" name="Google Shape;228;p30"/>
          <p:cNvSpPr txBox="1"/>
          <p:nvPr/>
        </p:nvSpPr>
        <p:spPr>
          <a:xfrm>
            <a:off x="274320" y="3209544"/>
            <a:ext cx="34747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Q2  Gender gap in mobile money</a:t>
            </a:r>
            <a:endParaRPr/>
          </a:p>
        </p:txBody>
      </p:sp>
      <p:sp>
        <p:nvSpPr>
          <p:cNvPr id="229" name="Google Shape;229;p30"/>
          <p:cNvSpPr txBox="1"/>
          <p:nvPr/>
        </p:nvSpPr>
        <p:spPr>
          <a:xfrm>
            <a:off x="3840480" y="3209544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0.717–0.770</a:t>
            </a:r>
            <a:endParaRPr/>
          </a:p>
        </p:txBody>
      </p:sp>
      <p:sp>
        <p:nvSpPr>
          <p:cNvPr id="230" name="Google Shape;230;p30"/>
          <p:cNvSpPr txBox="1"/>
          <p:nvPr/>
        </p:nvSpPr>
        <p:spPr>
          <a:xfrm>
            <a:off x="5577840" y="3209544"/>
            <a:ext cx="25603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Detailed (global)</a:t>
            </a:r>
            <a:endParaRPr/>
          </a:p>
        </p:txBody>
      </p:sp>
      <p:sp>
        <p:nvSpPr>
          <p:cNvPr id="231" name="Google Shape;231;p30"/>
          <p:cNvSpPr txBox="1"/>
          <p:nvPr/>
        </p:nvSpPr>
        <p:spPr>
          <a:xfrm>
            <a:off x="8321040" y="3209544"/>
            <a:ext cx="64008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00" u="none" cap="none" strike="noStrike">
                <a:solidFill>
                  <a:srgbClr val="1A8C4E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232" name="Google Shape;232;p30"/>
          <p:cNvSpPr txBox="1"/>
          <p:nvPr/>
        </p:nvSpPr>
        <p:spPr>
          <a:xfrm>
            <a:off x="274320" y="3525012"/>
            <a:ext cx="34747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Q3  NBR payment system role</a:t>
            </a:r>
            <a:endParaRPr/>
          </a:p>
        </p:txBody>
      </p:sp>
      <p:sp>
        <p:nvSpPr>
          <p:cNvPr id="233" name="Google Shape;233;p30"/>
          <p:cNvSpPr txBox="1"/>
          <p:nvPr/>
        </p:nvSpPr>
        <p:spPr>
          <a:xfrm>
            <a:off x="3840480" y="3525012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0.672–0.760</a:t>
            </a:r>
            <a:endParaRPr/>
          </a:p>
        </p:txBody>
      </p:sp>
      <p:sp>
        <p:nvSpPr>
          <p:cNvPr id="234" name="Google Shape;234;p30"/>
          <p:cNvSpPr txBox="1"/>
          <p:nvPr/>
        </p:nvSpPr>
        <p:spPr>
          <a:xfrm>
            <a:off x="5577840" y="3525012"/>
            <a:ext cx="25603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Multi-source synthesis</a:t>
            </a:r>
            <a:endParaRPr/>
          </a:p>
        </p:txBody>
      </p:sp>
      <p:sp>
        <p:nvSpPr>
          <p:cNvPr id="235" name="Google Shape;235;p30"/>
          <p:cNvSpPr txBox="1"/>
          <p:nvPr/>
        </p:nvSpPr>
        <p:spPr>
          <a:xfrm>
            <a:off x="8321040" y="3525012"/>
            <a:ext cx="64008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00" u="none" cap="none" strike="noStrike">
                <a:solidFill>
                  <a:srgbClr val="1A8C4E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236" name="Google Shape;236;p30"/>
          <p:cNvSpPr txBox="1"/>
          <p:nvPr/>
        </p:nvSpPr>
        <p:spPr>
          <a:xfrm>
            <a:off x="274320" y="3840480"/>
            <a:ext cx="34747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Q4  Digital payment adoption</a:t>
            </a:r>
            <a:endParaRPr/>
          </a:p>
        </p:txBody>
      </p:sp>
      <p:sp>
        <p:nvSpPr>
          <p:cNvPr id="237" name="Google Shape;237;p30"/>
          <p:cNvSpPr txBox="1"/>
          <p:nvPr/>
        </p:nvSpPr>
        <p:spPr>
          <a:xfrm>
            <a:off x="3840480" y="3840480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0.508–0.579</a:t>
            </a:r>
            <a:endParaRPr/>
          </a:p>
        </p:txBody>
      </p:sp>
      <p:sp>
        <p:nvSpPr>
          <p:cNvPr id="238" name="Google Shape;238;p30"/>
          <p:cNvSpPr txBox="1"/>
          <p:nvPr/>
        </p:nvSpPr>
        <p:spPr>
          <a:xfrm>
            <a:off x="5577840" y="3840480"/>
            <a:ext cx="25603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Confident answer (LOW)</a:t>
            </a:r>
            <a:endParaRPr/>
          </a:p>
        </p:txBody>
      </p:sp>
      <p:sp>
        <p:nvSpPr>
          <p:cNvPr id="239" name="Google Shape;239;p30"/>
          <p:cNvSpPr txBox="1"/>
          <p:nvPr/>
        </p:nvSpPr>
        <p:spPr>
          <a:xfrm>
            <a:off x="8321040" y="3840480"/>
            <a:ext cx="64008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00" u="none" cap="none" strike="noStrike">
                <a:solidFill>
                  <a:srgbClr val="CC3333"/>
                </a:solidFill>
                <a:latin typeface="Calibri"/>
                <a:ea typeface="Calibri"/>
                <a:cs typeface="Calibri"/>
                <a:sym typeface="Calibri"/>
              </a:rPr>
              <a:t>✗</a:t>
            </a:r>
            <a:endParaRPr/>
          </a:p>
        </p:txBody>
      </p:sp>
      <p:sp>
        <p:nvSpPr>
          <p:cNvPr id="240" name="Google Shape;240;p30"/>
          <p:cNvSpPr txBox="1"/>
          <p:nvPr/>
        </p:nvSpPr>
        <p:spPr>
          <a:xfrm>
            <a:off x="274320" y="4155948"/>
            <a:ext cx="34747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Q5  Rwanda vs global trends</a:t>
            </a:r>
            <a:endParaRPr/>
          </a:p>
        </p:txBody>
      </p:sp>
      <p:sp>
        <p:nvSpPr>
          <p:cNvPr id="241" name="Google Shape;241;p30"/>
          <p:cNvSpPr txBox="1"/>
          <p:nvPr/>
        </p:nvSpPr>
        <p:spPr>
          <a:xfrm>
            <a:off x="3840480" y="4155948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0.699–0.775</a:t>
            </a:r>
            <a:endParaRPr/>
          </a:p>
        </p:txBody>
      </p:sp>
      <p:sp>
        <p:nvSpPr>
          <p:cNvPr id="242" name="Google Shape;242;p30"/>
          <p:cNvSpPr txBox="1"/>
          <p:nvPr/>
        </p:nvSpPr>
        <p:spPr>
          <a:xfrm>
            <a:off x="5577840" y="4155948"/>
            <a:ext cx="256032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Honest partial answer</a:t>
            </a:r>
            <a:endParaRPr/>
          </a:p>
        </p:txBody>
      </p:sp>
      <p:sp>
        <p:nvSpPr>
          <p:cNvPr id="243" name="Google Shape;243;p30"/>
          <p:cNvSpPr txBox="1"/>
          <p:nvPr/>
        </p:nvSpPr>
        <p:spPr>
          <a:xfrm>
            <a:off x="8321040" y="4155948"/>
            <a:ext cx="64008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00" u="none" cap="none" strike="noStrike">
                <a:solidFill>
                  <a:srgbClr val="1A8C4E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1"/>
          <p:cNvSpPr/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93C47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31"/>
          <p:cNvSpPr txBox="1"/>
          <p:nvPr/>
        </p:nvSpPr>
        <p:spPr>
          <a:xfrm>
            <a:off x="182875" y="-61900"/>
            <a:ext cx="86868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Deployment &amp; Live Demo</a:t>
            </a:r>
            <a:endParaRPr/>
          </a:p>
        </p:txBody>
      </p:sp>
      <p:sp>
        <p:nvSpPr>
          <p:cNvPr id="250" name="Google Shape;250;p31"/>
          <p:cNvSpPr/>
          <p:nvPr/>
        </p:nvSpPr>
        <p:spPr>
          <a:xfrm>
            <a:off x="274320" y="445770"/>
            <a:ext cx="8595360" cy="617220"/>
          </a:xfrm>
          <a:prstGeom prst="rect">
            <a:avLst/>
          </a:prstGeom>
          <a:solidFill>
            <a:srgbClr val="38761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31"/>
          <p:cNvSpPr txBox="1"/>
          <p:nvPr/>
        </p:nvSpPr>
        <p:spPr>
          <a:xfrm>
            <a:off x="365760" y="466344"/>
            <a:ext cx="84124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AABBDD"/>
                </a:solidFill>
                <a:latin typeface="Calibri"/>
                <a:ea typeface="Calibri"/>
                <a:cs typeface="Calibri"/>
                <a:sym typeface="Calibri"/>
              </a:rPr>
              <a:t>LIVE APPLICATION URL</a:t>
            </a:r>
            <a:endParaRPr/>
          </a:p>
        </p:txBody>
      </p:sp>
      <p:sp>
        <p:nvSpPr>
          <p:cNvPr id="252" name="Google Shape;252;p31"/>
          <p:cNvSpPr txBox="1"/>
          <p:nvPr/>
        </p:nvSpPr>
        <p:spPr>
          <a:xfrm>
            <a:off x="365760" y="65151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https://huggingface.co/spaces/geredi/BNR-Document-Intelligence</a:t>
            </a:r>
            <a:endParaRPr/>
          </a:p>
        </p:txBody>
      </p:sp>
      <p:sp>
        <p:nvSpPr>
          <p:cNvPr id="253" name="Google Shape;253;p31"/>
          <p:cNvSpPr/>
          <p:nvPr/>
        </p:nvSpPr>
        <p:spPr>
          <a:xfrm>
            <a:off x="274320" y="1179576"/>
            <a:ext cx="4114800" cy="2743200"/>
          </a:xfrm>
          <a:prstGeom prst="rect">
            <a:avLst/>
          </a:prstGeom>
          <a:solidFill>
            <a:srgbClr val="F4F6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31"/>
          <p:cNvSpPr/>
          <p:nvPr/>
        </p:nvSpPr>
        <p:spPr>
          <a:xfrm>
            <a:off x="274320" y="1179576"/>
            <a:ext cx="4114800" cy="260604"/>
          </a:xfrm>
          <a:prstGeom prst="rect">
            <a:avLst/>
          </a:prstGeom>
          <a:solidFill>
            <a:srgbClr val="38761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31"/>
          <p:cNvSpPr txBox="1"/>
          <p:nvPr/>
        </p:nvSpPr>
        <p:spPr>
          <a:xfrm>
            <a:off x="320050" y="1200150"/>
            <a:ext cx="39774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DEPLOYMENT STACK</a:t>
            </a:r>
            <a:endParaRPr/>
          </a:p>
        </p:txBody>
      </p:sp>
      <p:sp>
        <p:nvSpPr>
          <p:cNvPr id="256" name="Google Shape;256;p31"/>
          <p:cNvSpPr txBox="1"/>
          <p:nvPr/>
        </p:nvSpPr>
        <p:spPr>
          <a:xfrm>
            <a:off x="365760" y="1495044"/>
            <a:ext cx="3931800" cy="19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Platform:  Hugging Face Spaces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Free tier  ·  16 GB RAM  ·  2 vCPU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Runtime:  Docker (python:3.11-slim)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Streamlit on port 7860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Auto-rebuild on every git push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Vector DB:  ChromaDB EphemeralClient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In-memory, rebuilt on cold start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~20-30 s first load, then fast</a:t>
            </a:r>
            <a:endParaRPr/>
          </a:p>
        </p:txBody>
      </p:sp>
      <p:sp>
        <p:nvSpPr>
          <p:cNvPr id="257" name="Google Shape;257;p31"/>
          <p:cNvSpPr/>
          <p:nvPr/>
        </p:nvSpPr>
        <p:spPr>
          <a:xfrm>
            <a:off x="4754880" y="1179576"/>
            <a:ext cx="4114800" cy="2743200"/>
          </a:xfrm>
          <a:prstGeom prst="rect">
            <a:avLst/>
          </a:prstGeom>
          <a:solidFill>
            <a:srgbClr val="F4F6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31"/>
          <p:cNvSpPr/>
          <p:nvPr/>
        </p:nvSpPr>
        <p:spPr>
          <a:xfrm>
            <a:off x="4754880" y="1179576"/>
            <a:ext cx="4114800" cy="260604"/>
          </a:xfrm>
          <a:prstGeom prst="rect">
            <a:avLst/>
          </a:prstGeom>
          <a:solidFill>
            <a:srgbClr val="93C47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31"/>
          <p:cNvSpPr txBox="1"/>
          <p:nvPr/>
        </p:nvSpPr>
        <p:spPr>
          <a:xfrm>
            <a:off x="4800600" y="1200150"/>
            <a:ext cx="3931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PROJECT JOURNEY</a:t>
            </a:r>
            <a:endParaRPr/>
          </a:p>
        </p:txBody>
      </p:sp>
      <p:sp>
        <p:nvSpPr>
          <p:cNvPr id="260" name="Google Shape;260;p31"/>
          <p:cNvSpPr txBox="1"/>
          <p:nvPr/>
        </p:nvSpPr>
        <p:spPr>
          <a:xfrm>
            <a:off x="4846320" y="1495044"/>
            <a:ext cx="3931800" cy="24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  Corpus documents collected (4)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  RAG pipeline built from scratch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 ingestion → retrieval → generation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  Streamlit UI developed (app.py)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  Evaluation suite run (5 questions)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  Results analysed, failures logged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  Git LFS set up for PDF storage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  Deployed to HF Spaces via Docker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  Secrets configured (API key safe)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 Live &amp; accessible 24/7</a:t>
            </a:r>
            <a:endParaRPr/>
          </a:p>
        </p:txBody>
      </p:sp>
      <p:sp>
        <p:nvSpPr>
          <p:cNvPr id="261" name="Google Shape;261;p31"/>
          <p:cNvSpPr/>
          <p:nvPr/>
        </p:nvSpPr>
        <p:spPr>
          <a:xfrm>
            <a:off x="274320" y="4032504"/>
            <a:ext cx="8595360" cy="377190"/>
          </a:xfrm>
          <a:prstGeom prst="rect">
            <a:avLst/>
          </a:prstGeom>
          <a:solidFill>
            <a:srgbClr val="E8F0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31"/>
          <p:cNvSpPr txBox="1"/>
          <p:nvPr/>
        </p:nvSpPr>
        <p:spPr>
          <a:xfrm>
            <a:off x="365760" y="4059936"/>
            <a:ext cx="5029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8761D"/>
                </a:solidFill>
                <a:latin typeface="Calibri"/>
                <a:ea typeface="Calibri"/>
                <a:cs typeface="Calibri"/>
                <a:sym typeface="Calibri"/>
              </a:rPr>
              <a:t>Source code:  https://github.com/GerediNIYIBIGIRA/BNR-DS-Challenge</a:t>
            </a:r>
            <a:endParaRPr>
              <a:solidFill>
                <a:srgbClr val="38761D"/>
              </a:solidFill>
            </a:endParaRPr>
          </a:p>
        </p:txBody>
      </p:sp>
      <p:sp>
        <p:nvSpPr>
          <p:cNvPr id="263" name="Google Shape;263;p31"/>
          <p:cNvSpPr txBox="1"/>
          <p:nvPr/>
        </p:nvSpPr>
        <p:spPr>
          <a:xfrm>
            <a:off x="5486400" y="4059936"/>
            <a:ext cx="32004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A8C4E"/>
                </a:solidFill>
                <a:latin typeface="Calibri"/>
                <a:ea typeface="Calibri"/>
                <a:cs typeface="Calibri"/>
                <a:sym typeface="Calibri"/>
              </a:rPr>
              <a:t>API key stored as HF Secret (never in code)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32"/>
          <p:cNvSpPr/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93C47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32"/>
          <p:cNvSpPr txBox="1"/>
          <p:nvPr/>
        </p:nvSpPr>
        <p:spPr>
          <a:xfrm>
            <a:off x="182875" y="-34250"/>
            <a:ext cx="86904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Risks &amp; Governance Considerations</a:t>
            </a:r>
            <a:endParaRPr/>
          </a:p>
        </p:txBody>
      </p:sp>
      <p:sp>
        <p:nvSpPr>
          <p:cNvPr id="270" name="Google Shape;270;p32"/>
          <p:cNvSpPr/>
          <p:nvPr/>
        </p:nvSpPr>
        <p:spPr>
          <a:xfrm>
            <a:off x="182930" y="634283"/>
            <a:ext cx="73200" cy="514500"/>
          </a:xfrm>
          <a:prstGeom prst="rect">
            <a:avLst/>
          </a:prstGeom>
          <a:solidFill>
            <a:srgbClr val="CC333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32"/>
          <p:cNvSpPr txBox="1"/>
          <p:nvPr/>
        </p:nvSpPr>
        <p:spPr>
          <a:xfrm>
            <a:off x="411480" y="529771"/>
            <a:ext cx="2743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00" u="none" cap="none" strike="noStrike">
                <a:solidFill>
                  <a:srgbClr val="CC3333"/>
                </a:solidFill>
                <a:latin typeface="Calibri"/>
                <a:ea typeface="Calibri"/>
                <a:cs typeface="Calibri"/>
                <a:sym typeface="Calibri"/>
              </a:rPr>
              <a:t>1. Risks in a central bank setting</a:t>
            </a:r>
            <a:endParaRPr/>
          </a:p>
        </p:txBody>
      </p:sp>
      <p:sp>
        <p:nvSpPr>
          <p:cNvPr id="272" name="Google Shape;272;p32"/>
          <p:cNvSpPr txBox="1"/>
          <p:nvPr/>
        </p:nvSpPr>
        <p:spPr>
          <a:xfrm>
            <a:off x="411468" y="781827"/>
            <a:ext cx="850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Misquotation of legal/regulatory text; data leakage to external LLM API; outdated corpus if documents not re-indexed; over-reliance replacing expert judgement. Mitigations: local embeddings (no data egress); strict grounding prompt; mandatory human review.</a:t>
            </a:r>
            <a:endParaRPr/>
          </a:p>
        </p:txBody>
      </p:sp>
      <p:sp>
        <p:nvSpPr>
          <p:cNvPr id="273" name="Google Shape;273;p32"/>
          <p:cNvSpPr/>
          <p:nvPr/>
        </p:nvSpPr>
        <p:spPr>
          <a:xfrm>
            <a:off x="182905" y="1386375"/>
            <a:ext cx="73200" cy="514500"/>
          </a:xfrm>
          <a:prstGeom prst="rect">
            <a:avLst/>
          </a:prstGeom>
          <a:solidFill>
            <a:srgbClr val="CC333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32"/>
          <p:cNvSpPr txBox="1"/>
          <p:nvPr/>
        </p:nvSpPr>
        <p:spPr>
          <a:xfrm>
            <a:off x="411480" y="1255550"/>
            <a:ext cx="2743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00" u="none" cap="none" strike="noStrike">
                <a:solidFill>
                  <a:srgbClr val="CC3333"/>
                </a:solidFill>
                <a:latin typeface="Calibri"/>
                <a:ea typeface="Calibri"/>
                <a:cs typeface="Calibri"/>
                <a:sym typeface="Calibri"/>
              </a:rPr>
              <a:t>2. Reducing hallucinations</a:t>
            </a:r>
            <a:endParaRPr/>
          </a:p>
        </p:txBody>
      </p:sp>
      <p:sp>
        <p:nvSpPr>
          <p:cNvPr id="275" name="Google Shape;275;p32"/>
          <p:cNvSpPr txBox="1"/>
          <p:nvPr/>
        </p:nvSpPr>
        <p:spPr>
          <a:xfrm>
            <a:off x="411530" y="1486631"/>
            <a:ext cx="8503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System prompt forbids external knowledge. Fallback string enforced for out-of-corpus questions. NEW: add minimum similarity threshold (≥ 0.65) — Q4 demonstrated confident answer at sim=0.51. Post-retrieval faithfulness check: flag answers not entailed by retrieved chunks.</a:t>
            </a:r>
            <a:endParaRPr/>
          </a:p>
        </p:txBody>
      </p:sp>
      <p:sp>
        <p:nvSpPr>
          <p:cNvPr id="276" name="Google Shape;276;p32"/>
          <p:cNvSpPr/>
          <p:nvPr/>
        </p:nvSpPr>
        <p:spPr>
          <a:xfrm>
            <a:off x="182852" y="2209675"/>
            <a:ext cx="73200" cy="514500"/>
          </a:xfrm>
          <a:prstGeom prst="rect">
            <a:avLst/>
          </a:prstGeom>
          <a:solidFill>
            <a:srgbClr val="1A8C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32"/>
          <p:cNvSpPr txBox="1"/>
          <p:nvPr/>
        </p:nvSpPr>
        <p:spPr>
          <a:xfrm>
            <a:off x="411549" y="2085888"/>
            <a:ext cx="3294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00" u="none" cap="none" strike="noStrike">
                <a:solidFill>
                  <a:srgbClr val="1A8C4E"/>
                </a:solidFill>
                <a:latin typeface="Calibri"/>
                <a:ea typeface="Calibri"/>
                <a:cs typeface="Calibri"/>
                <a:sym typeface="Calibri"/>
              </a:rPr>
              <a:t>3. Audit &amp; logging  (already implemented)</a:t>
            </a:r>
            <a:endParaRPr/>
          </a:p>
        </p:txBody>
      </p:sp>
      <p:sp>
        <p:nvSpPr>
          <p:cNvPr id="278" name="Google Shape;278;p32"/>
          <p:cNvSpPr txBox="1"/>
          <p:nvPr/>
        </p:nvSpPr>
        <p:spPr>
          <a:xfrm>
            <a:off x="411530" y="2385484"/>
            <a:ext cx="850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logs/audit.jsonl records every query: timestamp, question, answer preview, sources, similarity scores, tokens, latency, is_fallback flag. In production: centralise in ELK/Splunk with 5-year retention and access control.</a:t>
            </a:r>
            <a:endParaRPr/>
          </a:p>
        </p:txBody>
      </p:sp>
      <p:sp>
        <p:nvSpPr>
          <p:cNvPr id="279" name="Google Shape;279;p32"/>
          <p:cNvSpPr/>
          <p:nvPr/>
        </p:nvSpPr>
        <p:spPr>
          <a:xfrm>
            <a:off x="182880" y="2890519"/>
            <a:ext cx="73200" cy="514500"/>
          </a:xfrm>
          <a:prstGeom prst="rect">
            <a:avLst/>
          </a:prstGeom>
          <a:solidFill>
            <a:srgbClr val="6AA84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6AA8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32"/>
          <p:cNvSpPr txBox="1"/>
          <p:nvPr/>
        </p:nvSpPr>
        <p:spPr>
          <a:xfrm>
            <a:off x="411550" y="2825200"/>
            <a:ext cx="3458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00" u="none" cap="none" strike="noStrike">
                <a:solidFill>
                  <a:srgbClr val="007BC2"/>
                </a:solidFill>
                <a:latin typeface="Calibri"/>
                <a:ea typeface="Calibri"/>
                <a:cs typeface="Calibri"/>
                <a:sym typeface="Calibri"/>
              </a:rPr>
              <a:t>4. Testing embedding or LLM model</a:t>
            </a:r>
            <a:r>
              <a:rPr b="1" lang="en" sz="1300">
                <a:solidFill>
                  <a:srgbClr val="007BC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" sz="1300" u="none" cap="none" strike="noStrike">
                <a:solidFill>
                  <a:srgbClr val="007BC2"/>
                </a:solidFill>
                <a:latin typeface="Calibri"/>
                <a:ea typeface="Calibri"/>
                <a:cs typeface="Calibri"/>
                <a:sym typeface="Calibri"/>
              </a:rPr>
              <a:t>updates</a:t>
            </a:r>
            <a:endParaRPr/>
          </a:p>
        </p:txBody>
      </p:sp>
      <p:sp>
        <p:nvSpPr>
          <p:cNvPr id="281" name="Google Shape;281;p32"/>
          <p:cNvSpPr txBox="1"/>
          <p:nvPr/>
        </p:nvSpPr>
        <p:spPr>
          <a:xfrm>
            <a:off x="411530" y="3099513"/>
            <a:ext cx="850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Maintain golden Q&amp;A test set (these 5 questions + expected sources). For each candidate model: re-index → run test set → compare source-hit rate, faithfulness score, and fallback accuracy vs. baseline. Only promote if all metrics improve.</a:t>
            </a:r>
            <a:endParaRPr/>
          </a:p>
        </p:txBody>
      </p:sp>
      <p:sp>
        <p:nvSpPr>
          <p:cNvPr id="282" name="Google Shape;282;p32"/>
          <p:cNvSpPr/>
          <p:nvPr/>
        </p:nvSpPr>
        <p:spPr>
          <a:xfrm>
            <a:off x="182855" y="3694710"/>
            <a:ext cx="73200" cy="514500"/>
          </a:xfrm>
          <a:prstGeom prst="rect">
            <a:avLst/>
          </a:prstGeom>
          <a:solidFill>
            <a:srgbClr val="38761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32"/>
          <p:cNvSpPr txBox="1"/>
          <p:nvPr/>
        </p:nvSpPr>
        <p:spPr>
          <a:xfrm>
            <a:off x="411480" y="3568335"/>
            <a:ext cx="2743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300" u="none" cap="none" strike="noStrike">
                <a:solidFill>
                  <a:srgbClr val="1A3C8F"/>
                </a:solidFill>
                <a:latin typeface="Calibri"/>
                <a:ea typeface="Calibri"/>
                <a:cs typeface="Calibri"/>
                <a:sym typeface="Calibri"/>
              </a:rPr>
              <a:t>5. Improvements with more time</a:t>
            </a:r>
            <a:endParaRPr/>
          </a:p>
        </p:txBody>
      </p:sp>
      <p:sp>
        <p:nvSpPr>
          <p:cNvPr id="284" name="Google Shape;284;p32"/>
          <p:cNvSpPr txBox="1"/>
          <p:nvPr/>
        </p:nvSpPr>
        <p:spPr>
          <a:xfrm>
            <a:off x="411418" y="3867916"/>
            <a:ext cx="850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Hybrid retrieval (BM25 + dense) to fix Q1 keyword recall; similarity threshold gate to fix Q4 over-confidence; diversified top-k (force ≥2 sources) to fix Q2/Q5 single-doc bias; cross-encoder reranking; PDF table extraction; Kinyarwanda query support.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