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8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BNR Document Intelligence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DDFF"/>
                </a:solidFill>
              </a:rPr>
              <a:t>Retrieval-Augmented Generation (RAG) over BNR Institutional Corpus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017520"/>
            <a:ext cx="6400800" cy="1371600"/>
          </a:xfrm>
          <a:prstGeom prst="rect">
            <a:avLst/>
          </a:prstGeom>
          <a:solidFill>
            <a:srgbClr val="0F2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4 corpus documents  ·  Semantic retrieval  ·  Grounded answers with citations
Strict fallback for out-of-corpus questions  ·  Full audit trail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BBDD"/>
                </a:solidFill>
              </a:rPr>
              <a:t>Geredi Niyibigira  ·  BNR Data Science Challenge #1  ·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365760"/>
            <a:ext cx="5029200" cy="68580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1148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1  User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029200" cy="68580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8016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2  Text Embedding
all-MiniLM-L6-v2 (local)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40280"/>
            <a:ext cx="5029200" cy="68580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28600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3  ChromaDB
Cosine similarity, top-5 chunks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246120"/>
            <a:ext cx="5029200" cy="68580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291839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4  Context + Prompt
Strict grounding instructions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251960"/>
            <a:ext cx="5029200" cy="68580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429768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5  Claude LLM
Grounded answer + citations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074920"/>
            <a:ext cx="5029200" cy="685800"/>
          </a:xfrm>
          <a:prstGeom prst="rect">
            <a:avLst/>
          </a:prstGeom>
          <a:solidFill>
            <a:srgbClr val="1A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512064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6  Audit Logger
logs/audit.jsonl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548640"/>
            <a:ext cx="3200400" cy="5120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594360"/>
            <a:ext cx="310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333333"/>
                </a:solidFill>
              </a:rPr>
              <a:t>• COMPONENTS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Embeddings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sentence-transformers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384-dim, CPU, no API key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Vector Store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ChromaDB (persistent)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Cosine similarity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LLM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Claude 3.5 Haiku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Anthropic API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Chunking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600 words / 100 overlap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Key Design Choices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594360"/>
            <a:ext cx="73152" cy="50292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BC2"/>
                </a:solidFill>
              </a:rPr>
              <a:t>Local Embeddings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8696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all-MiniLM-L6-v2 runs entirely on CPU — corpus text never leaves the institution's infrastructure.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508760"/>
            <a:ext cx="73152" cy="50292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08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C8F"/>
                </a:solidFill>
              </a:rPr>
              <a:t>Strict Grounding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80136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System prompt forbids the LLM from using external knowledge. Mandatory fallback: "The answer cannot be determined from the provided documents."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2423160"/>
            <a:ext cx="73152" cy="50292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BC2"/>
                </a:solidFill>
              </a:rPr>
              <a:t>Metadata Preservation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71576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Every chunk retains source document name, filename, page number, and doc type. Enables precise citations and filtered retrieval.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337560"/>
            <a:ext cx="73152" cy="50292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337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C8F"/>
                </a:solidFill>
              </a:rPr>
              <a:t>Persistent Vector 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63016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ChromaDB persists to disk (chroma_db/). Re-indexing only needed when the corpus changes — cold start avoided on every query.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4251960"/>
            <a:ext cx="73152" cy="502920"/>
          </a:xfrm>
          <a:prstGeom prst="rect">
            <a:avLst/>
          </a:prstGeom>
          <a:solidFill>
            <a:srgbClr val="1A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251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8C4E"/>
                </a:solidFill>
              </a:rPr>
              <a:t>Audit Trail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54456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Every query is appended to logs/audit.jsonl with timestamp, tokens, latency, sources retrieved, and whether the fallback was triggered.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Retrieval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594360"/>
            <a:ext cx="4206240" cy="5120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333333"/>
                </a:solidFill>
              </a:rPr>
              <a:t>• HOW IT WORKS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1.  Query → embedding vector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   (same model as indexing)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2.  Cosine similarity search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   across all ~2,000+ chunks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3.  Top-5 chunks returned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   with similarity scores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4.  Low-quality chunks filtered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   (&lt; 80 chars at index time)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5.  Chunks + question passed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   to the LLM for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594360"/>
            <a:ext cx="4297680" cy="5120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0" y="6400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333333"/>
                </a:solidFill>
              </a:rPr>
              <a:t>• CORPUS DOCUMENT HANDLING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PDF documents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· pypdf text extraction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· 600-word sliding window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· Page number preserved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CSV (IMF dataset)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· One chunk per indicator row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· Year columns as key-value pairs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· indicator name in metadata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Multi-source queries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· No per-document filter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· Naturally surfaces best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  chunks from all 4 docs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Example Outputs  (live evaluation results)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548640"/>
            <a:ext cx="8778240" cy="1188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548640"/>
            <a:ext cx="64008" cy="118872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585216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BC2"/>
                </a:solidFill>
              </a:rPr>
              <a:t>Q1 — Barriers to financial inclusion in rural Rwanda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96112"/>
            <a:ext cx="8412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Retrieved: FinScope 2024 pp. 75, 32, 33, 5, 15 (sim 0.72–0.75)  |  Latency: 2.6 s
Answer: Appropriate refusal — retrieved pages cover achievements &amp; recommendations, not barriers. System correctly refused rather than fabricating an answer. Limitation: semantic search matched the topic but not the sub-topic; hybrid BM25 would improve recall.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2011680"/>
            <a:ext cx="8778240" cy="1188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2011680"/>
            <a:ext cx="64008" cy="118872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048256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C8F"/>
                </a:solidFill>
              </a:rPr>
              <a:t>Q2 — Gender gap in mobile money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59152"/>
            <a:ext cx="8412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Retrieved: GSMA 2025 pp. 70–77 (sim 0.72–0.77)  |  Latency: 5.7 s
Answer: Detailed &amp; accurate — Pakistan women 70% less likely to own accounts; frequency &amp; transaction-type gaps quantified. Limitation: Rwanda-specific gender data (FinScope) was not retrieved — single-document bias toward GSMA.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3474720"/>
            <a:ext cx="8778240" cy="1188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3474720"/>
            <a:ext cx="64008" cy="118872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511296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BC2"/>
                </a:solidFill>
              </a:rPr>
              <a:t>Q3 — NBR's operational role in the payment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822192"/>
            <a:ext cx="8412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Retrieved: Law No. 061/2021 p.1 + p.40; FinScope pp. 60, 61 (sim 0.67–0.76)  |  Latency: 5.3 s
Answer: Multi-source synthesis — Art. 4 (General Powers), Art. 5 (Investigative), Interoperability, RNPS Strategy 2018–2024. Limitation: strategic role cited via FinScope (secondary) rather than the law itself; one article number not specified.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4937760"/>
            <a:ext cx="8778240" cy="1188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4937760"/>
            <a:ext cx="64008" cy="118872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974336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3333"/>
                </a:solidFill>
              </a:rPr>
              <a:t>Q4 — Has digital payment adoption increased?  [CRITICAL FAILURE CASE]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285232"/>
            <a:ext cx="8412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Retrieved: GSMA pp. 57–61 — ALL similarity scores &lt; 0.58 (weakest in evaluation)  |  Latency: 5.9 s
Answer: Confident ASEAN-region statistics returned despite low retrieval confidence. Q1 with HIGHER scores (0.72) correctly refused; this did not. Root cause: no minimum similarity threshold gate — fixed by adding cutoff ≥ 0.65.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Evaluation Findings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548640"/>
            <a:ext cx="4206240" cy="2743200"/>
          </a:xfrm>
          <a:prstGeom prst="rect">
            <a:avLst/>
          </a:prstGeom>
          <a:solidFill>
            <a:srgbClr val="E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548640"/>
            <a:ext cx="4206240" cy="365760"/>
          </a:xfrm>
          <a:prstGeom prst="rect">
            <a:avLst/>
          </a:prstGeom>
          <a:solidFill>
            <a:srgbClr val="1A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566928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WHAT WORKS WELL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60120"/>
            <a:ext cx="4023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No hallucination in any of the 5 answers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Appropriate refusal on Q1 (correct grounding)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Article-level legal citations on Q3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GSMA gender chapter retrieved precisely (Q2)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Honest partial answer on Q5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Full audit trail in logs/audit.jsonl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368 chunks indexed from 4 heterogeneous docs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548640"/>
            <a:ext cx="4206240" cy="2743200"/>
          </a:xfrm>
          <a:prstGeom prst="rect">
            <a:avLst/>
          </a:prstGeom>
          <a:solidFill>
            <a:srgbClr val="FD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0" y="548640"/>
            <a:ext cx="4206240" cy="36576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566928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IDENTIFIED FAILURES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960120"/>
            <a:ext cx="4023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Q4: sim &lt; 0.58 → confident answer (no gate)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Q2: Rwanda gender data not retrieved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Q5: GSMA not surfaced for comparison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Q1: 'barriers' semantically missed in top-5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PDF tables &amp; figures not extracted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No minimum similarity threshold enforced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Single-document bias on multi-source queries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3429000"/>
            <a:ext cx="8778240" cy="2651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474720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C8F"/>
                </a:solidFill>
              </a:rPr>
              <a:t>MEASURED METRICS  (5 questions, live run)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85876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Q1  Barriers (rural Rwanda)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8587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0.718–0.752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85876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Appropriate refusal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858768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8C4E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2793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Q2  Gender gap in mobile money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27939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0.717–0.770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427939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Detailed (global)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279392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8C4E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70001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Q3  NBR payment system role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70001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0.672–0.760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470001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Multi-source synthesis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700016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8C4E"/>
                </a:solidFill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51206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Q4  Digital payment adoption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1206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0.508–0.579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51206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Confident answer (LOW)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120640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3333"/>
                </a:solidFill>
              </a:rP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554126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Q5  Rwanda vs global trends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554126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0.699–0.775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554126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Honest partial answer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5541264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8C4E"/>
                </a:solidFill>
              </a:rPr>
              <a:t>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Risks &amp; Governance Considerations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566928"/>
            <a:ext cx="73152" cy="68580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3333"/>
                </a:solidFill>
              </a:rPr>
              <a:t>1. Risks in a central bank setting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59536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Misquotation of legal/regulatory text; data leakage to external LLM API; outdated corpus if documents not re-indexed; over-reliance replacing expert judgement. Mitigations: local embeddings (no data egress); strict grounding prompt; mandatory human review.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499616"/>
            <a:ext cx="73152" cy="68580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9961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3333"/>
                </a:solidFill>
              </a:rPr>
              <a:t>2. Reducing hallucinations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92224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System prompt forbids external knowledge. Fallback string enforced for out-of-corpus questions. NEW: add minimum similarity threshold (≥ 0.65) — Q4 demonstrated confident answer at sim=0.51. Post-retrieval faithfulness check: flag answers not entailed by retrieved chunks.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2432304"/>
            <a:ext cx="73152" cy="685800"/>
          </a:xfrm>
          <a:prstGeom prst="rect">
            <a:avLst/>
          </a:prstGeom>
          <a:solidFill>
            <a:srgbClr val="1A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4323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8C4E"/>
                </a:solidFill>
              </a:rPr>
              <a:t>3. Audit &amp; logging  (already implemented)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724912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logs/audit.jsonl records every query: timestamp, question, answer preview, sources, similarity scores, tokens, latency, is_fallback flag. In production: centralise in ELK/Splunk with 5-year retention and access control.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364992"/>
            <a:ext cx="73152" cy="68580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3649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BC2"/>
                </a:solidFill>
              </a:rPr>
              <a:t>4. Testing embedding or LLM model updates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65760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Maintain golden Q&amp;A test set (these 5 questions + expected sources). For each candidate model: re-index → run test set → compare source-hit rate, faithfulness score, and fallback accuracy vs. baseline. Only promote if all metrics improve.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4297680"/>
            <a:ext cx="73152" cy="68580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C8F"/>
                </a:solidFill>
              </a:rPr>
              <a:t>5. Improvements with more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590288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Hybrid retrieval (BM25 + dense) to fix Q1 keyword recall; similarity threshold gate to fix Q4 over-confidence; diversified top-k (force ≥2 sources) to fix Q2/Q5 single-doc bias; cross-encoder reranking; PDF table extraction; Kinyarwanda query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